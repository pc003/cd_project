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14"/>
      <p:bold r:id="rId15"/>
    </p:embeddedFont>
    <p:embeddedFont>
      <p:font typeface="Fira Code Medium" panose="020B0809050000020004" pitchFamily="49" charset="0"/>
      <p:regular r:id="rId16"/>
      <p:bold r:id="rId17"/>
    </p:embeddedFont>
    <p:embeddedFont>
      <p:font typeface="Fira Code SemiBold" panose="020B0809050000020004" pitchFamily="49" charset="0"/>
      <p:regular r:id="rId18"/>
      <p:bold r:id="rId19"/>
    </p:embeddedFont>
    <p:embeddedFont>
      <p:font typeface="Inter" panose="02000503000000020004" pitchFamily="2" charset="0"/>
      <p:bold r:id="rId20"/>
      <p:italic r:id="rId21"/>
      <p:boldItalic r:id="rId22"/>
    </p:embeddedFont>
    <p:embeddedFont>
      <p:font typeface="Inter ExtraBold" panose="02000503000000020004" pitchFamily="2" charset="0"/>
      <p:bold r:id="rId23"/>
      <p:italic r:id="rId24"/>
      <p:boldItalic r:id="rId25"/>
    </p:embeddedFont>
    <p:embeddedFont>
      <p:font typeface="Inter Medium" panose="02000503000000020004" pitchFamily="2" charset="0"/>
      <p:regular r:id="rId26"/>
      <p:bold r:id="rId27"/>
      <p:italic r:id="rId28"/>
      <p:boldItalic r:id="rId29"/>
    </p:embeddedFont>
    <p:embeddedFont>
      <p:font typeface="Inter SemiBold" panose="02000503000000020004" pitchFamily="2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78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21" Type="http://schemas.openxmlformats.org/officeDocument/2006/relationships/font" Target="fonts/font8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font" Target="fonts/font20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font" Target="fonts/font19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6e46bd64d7007132_2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h6e46bd64d7007132_2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6e46bd64d7007132_1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h6e46bd64d7007132_1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h6e46bd64d7007132_1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h6e46bd64d7007132_1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h6e46bd64d7007132_1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h6e46bd64d7007132_1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h6e46bd64d7007132_1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h6e46bd64d7007132_1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h6e46bd64d7007132_1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h6e46bd64d7007132_1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h6e46bd64d7007132_1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h6e46bd64d7007132_1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h6e46bd64d7007132_1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h6e46bd64d7007132_1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h6e46bd64d7007132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h6e46bd64d7007132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h6e46bd64d7007132_1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h6e46bd64d7007132_1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h6e46bd64d7007132_1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h6e46bd64d7007132_1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h6e46bd64d7007132_9_0)">
  <p:cSld name="Generated (h6e46bd64d7007132_9_0)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" name="Google Shape;56;p14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57" name="Google Shape;57;p1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" name="Google Shape;58;p14"/>
            <p:cNvGrpSpPr/>
            <p:nvPr/>
          </p:nvGrpSpPr>
          <p:grpSpPr>
            <a:xfrm>
              <a:off x="381000" y="381000"/>
              <a:ext cx="1657500" cy="285900"/>
              <a:chOff x="0" y="0"/>
              <a:chExt cx="1657500" cy="285900"/>
            </a:xfrm>
          </p:grpSpPr>
          <p:sp>
            <p:nvSpPr>
              <p:cNvPr id="59" name="Google Shape;59;p14"/>
              <p:cNvSpPr/>
              <p:nvPr/>
            </p:nvSpPr>
            <p:spPr>
              <a:xfrm>
                <a:off x="0" y="38100"/>
                <a:ext cx="152400" cy="152400"/>
              </a:xfrm>
              <a:prstGeom prst="rect">
                <a:avLst/>
              </a:prstGeom>
              <a:solidFill>
                <a:srgbClr val="2B6CB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14"/>
              <p:cNvSpPr txBox="1"/>
              <p:nvPr/>
            </p:nvSpPr>
            <p:spPr>
              <a:xfrm>
                <a:off x="228600" y="0"/>
                <a:ext cx="1428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solidFill>
                      <a:srgbClr val="1A202C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NLOpt</a:t>
                </a:r>
                <a:endParaRPr sz="1800" b="1">
                  <a:solidFill>
                    <a:srgbClr val="1A202C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</p:txBody>
          </p:sp>
        </p:grpSp>
        <p:sp>
          <p:nvSpPr>
            <p:cNvPr id="61" name="Google Shape;61;p14"/>
            <p:cNvSpPr/>
            <p:nvPr/>
          </p:nvSpPr>
          <p:spPr>
            <a:xfrm>
              <a:off x="0" y="4953000"/>
              <a:ext cx="9144000" cy="190500"/>
            </a:xfrm>
            <a:prstGeom prst="rect">
              <a:avLst/>
            </a:prstGeom>
            <a:solidFill>
              <a:srgbClr val="1A202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" name="Google Shape;62;p14"/>
          <p:cNvGrpSpPr/>
          <p:nvPr/>
        </p:nvGrpSpPr>
        <p:grpSpPr>
          <a:xfrm>
            <a:off x="381000" y="1381125"/>
            <a:ext cx="8172600" cy="3143400"/>
            <a:chOff x="381000" y="1381125"/>
            <a:chExt cx="8172600" cy="3143400"/>
          </a:xfrm>
        </p:grpSpPr>
        <p:sp>
          <p:nvSpPr>
            <p:cNvPr id="63" name="Google Shape;63;p14"/>
            <p:cNvSpPr/>
            <p:nvPr/>
          </p:nvSpPr>
          <p:spPr>
            <a:xfrm>
              <a:off x="381000" y="1428750"/>
              <a:ext cx="76200" cy="2476500"/>
            </a:xfrm>
            <a:prstGeom prst="rect">
              <a:avLst/>
            </a:prstGeom>
            <a:solidFill>
              <a:srgbClr val="2B6CB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4"/>
            <p:cNvSpPr txBox="1"/>
            <p:nvPr/>
          </p:nvSpPr>
          <p:spPr>
            <a:xfrm>
              <a:off x="647700" y="1381125"/>
              <a:ext cx="79059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200" b="0" dirty="0" err="1">
                  <a:solidFill>
                    <a:srgbClr val="1A202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NLOpt</a:t>
              </a:r>
              <a:endParaRPr sz="5200" b="0" dirty="0">
                <a:solidFill>
                  <a:srgbClr val="1A202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2400" b="0" dirty="0">
                  <a:solidFill>
                    <a:srgbClr val="2B6CB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Natural-Language Optimization</a:t>
              </a:r>
              <a:endParaRPr sz="2400" b="0" dirty="0">
                <a:solidFill>
                  <a:srgbClr val="2B6CB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500" b="0" dirty="0">
                  <a:solidFill>
                    <a:srgbClr val="4A556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 Controlled Natural Language DSL for Compiler Optimizations</a:t>
              </a:r>
              <a:endParaRPr sz="1500" b="0" dirty="0">
                <a:solidFill>
                  <a:srgbClr val="4A556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marL="0" lvl="0" indent="0" algn="l" rtl="0">
                <a:spcBef>
                  <a:spcPts val="2100"/>
                </a:spcBef>
                <a:spcAft>
                  <a:spcPts val="0"/>
                </a:spcAft>
                <a:buNone/>
              </a:pPr>
              <a:r>
                <a:rPr lang="en" sz="1200" b="1" dirty="0">
                  <a:solidFill>
                    <a:srgbClr val="2B6CB0"/>
                  </a:solidFill>
                  <a:latin typeface="Inter"/>
                  <a:ea typeface="Inter"/>
                  <a:cs typeface="Inter"/>
                  <a:sym typeface="Inter"/>
                </a:rPr>
                <a:t>Compiler Design Project </a:t>
              </a:r>
            </a:p>
            <a:p>
              <a:pPr lvl="0">
                <a:spcBef>
                  <a:spcPts val="2100"/>
                </a:spcBef>
              </a:pPr>
              <a:r>
                <a:rPr lang="en" sz="1300" b="1" dirty="0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Presenters: </a:t>
              </a:r>
              <a:r>
                <a:rPr lang="en" sz="1300" b="0" dirty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Piyush Ajit Chavan</a:t>
              </a:r>
              <a:r>
                <a:rPr lang="en" sz="1300" dirty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 -24BCE2330                                                                                                   	  </a:t>
              </a:r>
              <a:r>
                <a:rPr lang="en" sz="1300" b="0" dirty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Bhudev Singh </a:t>
              </a:r>
              <a:r>
                <a:rPr lang="en" sz="1300" b="0" dirty="0" err="1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Bhayal</a:t>
              </a:r>
              <a:r>
                <a:rPr lang="en" sz="1300" b="0" dirty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 -24BCE2937</a:t>
              </a:r>
              <a:r>
                <a:rPr lang="en" sz="1300" dirty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IN" sz="1300" dirty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				 	  ARSHIA </a:t>
              </a:r>
              <a:r>
                <a:rPr lang="en-IN" sz="13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GOEL -24BCE2541</a:t>
              </a:r>
              <a:r>
                <a:rPr lang="en" sz="1300" b="0" dirty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</a:p>
            <a:p>
              <a:pPr marL="0" lvl="0" indent="0" algn="l" rtl="0">
                <a:spcBef>
                  <a:spcPts val="2100"/>
                </a:spcBef>
                <a:spcAft>
                  <a:spcPts val="0"/>
                </a:spcAft>
                <a:buNone/>
              </a:pPr>
              <a:endParaRPr sz="1300" b="1" dirty="0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" name="Google Shape;70;p15"/>
          <p:cNvGrpSpPr/>
          <p:nvPr/>
        </p:nvGrpSpPr>
        <p:grpSpPr>
          <a:xfrm>
            <a:off x="7620000" y="285750"/>
            <a:ext cx="1657500" cy="285900"/>
            <a:chOff x="0" y="0"/>
            <a:chExt cx="1657500" cy="285900"/>
          </a:xfrm>
        </p:grpSpPr>
        <p:sp>
          <p:nvSpPr>
            <p:cNvPr id="71" name="Google Shape;71;p15"/>
            <p:cNvSpPr/>
            <p:nvPr/>
          </p:nvSpPr>
          <p:spPr>
            <a:xfrm>
              <a:off x="0" y="38100"/>
              <a:ext cx="152400" cy="152400"/>
            </a:xfrm>
            <a:prstGeom prst="rect">
              <a:avLst/>
            </a:prstGeom>
            <a:solidFill>
              <a:srgbClr val="2B6CB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5"/>
            <p:cNvSpPr txBox="1"/>
            <p:nvPr/>
          </p:nvSpPr>
          <p:spPr>
            <a:xfrm>
              <a:off x="228600" y="0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rgbClr val="1A202C"/>
                  </a:solidFill>
                  <a:latin typeface="Fira Code"/>
                  <a:ea typeface="Fira Code"/>
                  <a:cs typeface="Fira Code"/>
                  <a:sym typeface="Fira Code"/>
                </a:rPr>
                <a:t>NLOpt</a:t>
              </a:r>
              <a:endParaRPr sz="1800" b="1">
                <a:solidFill>
                  <a:srgbClr val="1A202C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73" name="Google Shape;73;p15"/>
          <p:cNvSpPr txBox="1"/>
          <p:nvPr/>
        </p:nvSpPr>
        <p:spPr>
          <a:xfrm>
            <a:off x="381000" y="266700"/>
            <a:ext cx="7048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900"/>
              </a:spcAft>
              <a:buNone/>
            </a:pPr>
            <a:r>
              <a:rPr lang="en" sz="1870" b="0">
                <a:solidFill>
                  <a:srgbClr val="1A202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Traditional Compiler Optimizations Require Deep Specialized Expertise</a:t>
            </a:r>
            <a:endParaRPr sz="1870" b="0">
              <a:solidFill>
                <a:srgbClr val="1A202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cxnSp>
        <p:nvCxnSpPr>
          <p:cNvPr id="74" name="Google Shape;74;p15"/>
          <p:cNvCxnSpPr/>
          <p:nvPr/>
        </p:nvCxnSpPr>
        <p:spPr>
          <a:xfrm>
            <a:off x="381000" y="857250"/>
            <a:ext cx="8382000" cy="0"/>
          </a:xfrm>
          <a:prstGeom prst="straightConnector1">
            <a:avLst/>
          </a:prstGeom>
          <a:solidFill>
            <a:srgbClr val="FFFFFF"/>
          </a:solidFill>
          <a:ln w="190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5" name="Google Shape;75;p15"/>
          <p:cNvSpPr txBox="1"/>
          <p:nvPr/>
        </p:nvSpPr>
        <p:spPr>
          <a:xfrm>
            <a:off x="381000" y="1095375"/>
            <a:ext cx="8382000" cy="37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rPr>
              <a:t>Implementing compiler optimizations usually requires developers to understand complex intermediate representation (IR) semantics, control-flow properties, and compiler APIs.</a:t>
            </a:r>
            <a:endParaRPr sz="1500" b="0">
              <a:solidFill>
                <a:srgbClr val="1A202C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" sz="1800" b="0">
                <a:solidFill>
                  <a:srgbClr val="2B6CB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▪</a:t>
            </a:r>
            <a:endParaRPr sz="1500" b="0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rPr>
              <a:t>Substantial Boilerplate Overhead:</a:t>
            </a:r>
            <a:r>
              <a:rPr lang="en" sz="150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Expressing a simple rule like replacing an addition by zero with the other operand currently requires substantial C++ boilerplate.</a:t>
            </a:r>
            <a:endParaRPr sz="1500" b="0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350"/>
              </a:spcBef>
              <a:spcAft>
                <a:spcPts val="0"/>
              </a:spcAft>
              <a:buNone/>
            </a:pPr>
            <a:r>
              <a:rPr lang="en" sz="1800" b="0">
                <a:solidFill>
                  <a:srgbClr val="2B6CB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▪</a:t>
            </a:r>
            <a:endParaRPr sz="1500" b="0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rPr>
              <a:t>Manual Translation &amp; Safety Constraints:</a:t>
            </a:r>
            <a:r>
              <a:rPr lang="en" sz="150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The current workflow forces developers to manually translate optimization intent into compiler-specific code while handling intricate safety constraints.</a:t>
            </a:r>
            <a:endParaRPr sz="1500" b="0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350"/>
              </a:spcBef>
              <a:spcAft>
                <a:spcPts val="0"/>
              </a:spcAft>
              <a:buNone/>
            </a:pPr>
            <a:r>
              <a:rPr lang="en" sz="1800" b="0">
                <a:solidFill>
                  <a:srgbClr val="E53E3E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▪</a:t>
            </a:r>
            <a:endParaRPr sz="1500" b="0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1350"/>
              </a:spcAft>
              <a:buNone/>
            </a:pPr>
            <a:r>
              <a:rPr lang="en" sz="1500" b="1">
                <a:solidFill>
                  <a:srgbClr val="E53E3E"/>
                </a:solidFill>
                <a:latin typeface="Inter"/>
                <a:ea typeface="Inter"/>
                <a:cs typeface="Inter"/>
                <a:sym typeface="Inter"/>
              </a:rPr>
              <a:t>Implementation Gap:</a:t>
            </a:r>
            <a:r>
              <a:rPr lang="en" sz="150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This creates a significant gap between knowing what transformation is desirable and actually implementing it in the compiler backend.</a:t>
            </a:r>
            <a:endParaRPr sz="1500" b="0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" name="Google Shape;81;p16"/>
          <p:cNvGrpSpPr/>
          <p:nvPr/>
        </p:nvGrpSpPr>
        <p:grpSpPr>
          <a:xfrm>
            <a:off x="7620000" y="285750"/>
            <a:ext cx="1657500" cy="285900"/>
            <a:chOff x="0" y="0"/>
            <a:chExt cx="1657500" cy="285900"/>
          </a:xfrm>
        </p:grpSpPr>
        <p:sp>
          <p:nvSpPr>
            <p:cNvPr id="82" name="Google Shape;82;p16"/>
            <p:cNvSpPr/>
            <p:nvPr/>
          </p:nvSpPr>
          <p:spPr>
            <a:xfrm>
              <a:off x="0" y="38100"/>
              <a:ext cx="152400" cy="152400"/>
            </a:xfrm>
            <a:prstGeom prst="rect">
              <a:avLst/>
            </a:prstGeom>
            <a:solidFill>
              <a:srgbClr val="2B6CB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6"/>
            <p:cNvSpPr txBox="1"/>
            <p:nvPr/>
          </p:nvSpPr>
          <p:spPr>
            <a:xfrm>
              <a:off x="228600" y="0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rgbClr val="1A202C"/>
                  </a:solidFill>
                  <a:latin typeface="Fira Code"/>
                  <a:ea typeface="Fira Code"/>
                  <a:cs typeface="Fira Code"/>
                  <a:sym typeface="Fira Code"/>
                </a:rPr>
                <a:t>NLOpt</a:t>
              </a:r>
              <a:endParaRPr sz="1800" b="1">
                <a:solidFill>
                  <a:srgbClr val="1A202C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84" name="Google Shape;84;p16"/>
          <p:cNvSpPr txBox="1"/>
          <p:nvPr/>
        </p:nvSpPr>
        <p:spPr>
          <a:xfrm>
            <a:off x="381000" y="238125"/>
            <a:ext cx="7048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900"/>
              </a:spcAft>
              <a:buNone/>
            </a:pPr>
            <a:r>
              <a:rPr lang="en" sz="1850" b="0">
                <a:solidFill>
                  <a:srgbClr val="1A202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NLOpt Bridges Human Optimization Intent with Formal Compiler Rules</a:t>
            </a:r>
            <a:endParaRPr sz="1850" b="0">
              <a:solidFill>
                <a:srgbClr val="1A202C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cxnSp>
        <p:nvCxnSpPr>
          <p:cNvPr id="85" name="Google Shape;85;p16"/>
          <p:cNvCxnSpPr/>
          <p:nvPr/>
        </p:nvCxnSpPr>
        <p:spPr>
          <a:xfrm>
            <a:off x="381000" y="809625"/>
            <a:ext cx="8382000" cy="0"/>
          </a:xfrm>
          <a:prstGeom prst="straightConnector1">
            <a:avLst/>
          </a:prstGeom>
          <a:solidFill>
            <a:srgbClr val="FFFFFF"/>
          </a:solidFill>
          <a:ln w="190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6" name="Google Shape;86;p16"/>
          <p:cNvSpPr txBox="1"/>
          <p:nvPr/>
        </p:nvSpPr>
        <p:spPr>
          <a:xfrm>
            <a:off x="381000" y="952500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900"/>
              </a:spcAft>
              <a:buNone/>
            </a:pPr>
            <a:r>
              <a:rPr lang="en" sz="130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NLOpt is a controlled-natural-language domain-specific language (DSL). It restricts vocabulary and sentence structure to remain unambiguous while remaining human-readable.</a:t>
            </a:r>
            <a:endParaRPr sz="1300" b="0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7" name="Google Shape;87;p16"/>
          <p:cNvGrpSpPr/>
          <p:nvPr/>
        </p:nvGrpSpPr>
        <p:grpSpPr>
          <a:xfrm>
            <a:off x="381000" y="1524000"/>
            <a:ext cx="2600400" cy="3143400"/>
            <a:chOff x="0" y="0"/>
            <a:chExt cx="2600400" cy="3143400"/>
          </a:xfrm>
        </p:grpSpPr>
        <p:sp>
          <p:nvSpPr>
            <p:cNvPr id="88" name="Google Shape;88;p16"/>
            <p:cNvSpPr/>
            <p:nvPr/>
          </p:nvSpPr>
          <p:spPr>
            <a:xfrm>
              <a:off x="0" y="0"/>
              <a:ext cx="2600400" cy="31434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6"/>
            <p:cNvSpPr/>
            <p:nvPr/>
          </p:nvSpPr>
          <p:spPr>
            <a:xfrm>
              <a:off x="0" y="0"/>
              <a:ext cx="2600400" cy="38100"/>
            </a:xfrm>
            <a:prstGeom prst="rect">
              <a:avLst/>
            </a:prstGeom>
            <a:solidFill>
              <a:srgbClr val="2B6CB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6"/>
            <p:cNvSpPr txBox="1"/>
            <p:nvPr/>
          </p:nvSpPr>
          <p:spPr>
            <a:xfrm>
              <a:off x="190500" y="190500"/>
              <a:ext cx="22194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Input Phase</a:t>
              </a:r>
              <a:endParaRPr sz="1200" b="1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Human Specification</a:t>
              </a:r>
              <a:endParaRPr sz="1800" b="1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200" b="0">
                  <a:solidFill>
                    <a:srgbClr val="1A202C"/>
                  </a:solidFill>
                  <a:highlight>
                    <a:srgbClr val="EDF2F7"/>
                  </a:highlight>
                  <a:latin typeface="Inter"/>
                  <a:ea typeface="Inter"/>
                  <a:cs typeface="Inter"/>
                  <a:sym typeface="Inter"/>
                </a:rPr>
                <a:t>"For an addition with zero, replace the operation with the other operand."</a:t>
              </a:r>
              <a:endParaRPr sz="1200" b="0">
                <a:solidFill>
                  <a:srgbClr val="1A202C"/>
                </a:solidFill>
                <a:highlight>
                  <a:srgbClr val="EDF2F7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900"/>
                </a:spcAft>
                <a:buNone/>
              </a:pPr>
              <a:r>
                <a:rPr lang="en" sz="120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Expresses high-level optimization logic using restricted natural language constructs.</a:t>
              </a:r>
              <a:endParaRPr sz="120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91" name="Google Shape;91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57525" y="3086100"/>
            <a:ext cx="133500" cy="1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" name="Google Shape;92;p16"/>
          <p:cNvGrpSpPr/>
          <p:nvPr/>
        </p:nvGrpSpPr>
        <p:grpSpPr>
          <a:xfrm>
            <a:off x="3267075" y="1524000"/>
            <a:ext cx="2600400" cy="3143400"/>
            <a:chOff x="0" y="0"/>
            <a:chExt cx="2600400" cy="3143400"/>
          </a:xfrm>
        </p:grpSpPr>
        <p:sp>
          <p:nvSpPr>
            <p:cNvPr id="93" name="Google Shape;93;p16"/>
            <p:cNvSpPr/>
            <p:nvPr/>
          </p:nvSpPr>
          <p:spPr>
            <a:xfrm>
              <a:off x="0" y="0"/>
              <a:ext cx="2600400" cy="31434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6"/>
            <p:cNvSpPr/>
            <p:nvPr/>
          </p:nvSpPr>
          <p:spPr>
            <a:xfrm>
              <a:off x="0" y="0"/>
              <a:ext cx="2600400" cy="38100"/>
            </a:xfrm>
            <a:prstGeom prst="rect">
              <a:avLst/>
            </a:prstGeom>
            <a:solidFill>
              <a:srgbClr val="2B6CB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6"/>
            <p:cNvSpPr txBox="1"/>
            <p:nvPr/>
          </p:nvSpPr>
          <p:spPr>
            <a:xfrm>
              <a:off x="190500" y="190500"/>
              <a:ext cx="22194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10" b="1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Processing Pipeline</a:t>
              </a:r>
              <a:endParaRPr sz="1110" b="1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665" b="1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Transformation Flow</a:t>
              </a:r>
              <a:endParaRPr sz="1665" b="1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11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The controlled English statement undergoes a structured formal compilation pipeline:</a:t>
              </a:r>
              <a:endParaRPr sz="111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833" b="1">
                  <a:solidFill>
                    <a:srgbClr val="2B6CB0"/>
                  </a:solidFill>
                  <a:highlight>
                    <a:srgbClr val="F8F9FA"/>
                  </a:highlight>
                  <a:latin typeface="Inter"/>
                  <a:ea typeface="Inter"/>
                  <a:cs typeface="Inter"/>
                  <a:sym typeface="Inter"/>
                </a:rPr>
                <a:t>Step 1</a:t>
              </a:r>
              <a:endParaRPr sz="833" b="1">
                <a:solidFill>
                  <a:srgbClr val="2B6CB0"/>
                </a:solidFill>
                <a:highlight>
                  <a:srgbClr val="F8F9FA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18" b="1">
                  <a:solidFill>
                    <a:srgbClr val="1A202C"/>
                  </a:solidFill>
                  <a:highlight>
                    <a:srgbClr val="F8F9FA"/>
                  </a:highlight>
                  <a:latin typeface="Inter"/>
                  <a:ea typeface="Inter"/>
                  <a:cs typeface="Inter"/>
                  <a:sym typeface="Inter"/>
                </a:rPr>
                <a:t>Abstract Syntax Tree (AST)</a:t>
              </a:r>
              <a:endParaRPr sz="1018" b="1">
                <a:solidFill>
                  <a:srgbClr val="1A202C"/>
                </a:solidFill>
                <a:highlight>
                  <a:srgbClr val="F8F9FA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833" b="1">
                  <a:solidFill>
                    <a:srgbClr val="2B6CB0"/>
                  </a:solidFill>
                  <a:highlight>
                    <a:srgbClr val="F8F9FA"/>
                  </a:highlight>
                  <a:latin typeface="Inter"/>
                  <a:ea typeface="Inter"/>
                  <a:cs typeface="Inter"/>
                  <a:sym typeface="Inter"/>
                </a:rPr>
                <a:t>Step 2</a:t>
              </a:r>
              <a:endParaRPr sz="833" b="1">
                <a:solidFill>
                  <a:srgbClr val="2B6CB0"/>
                </a:solidFill>
                <a:highlight>
                  <a:srgbClr val="F8F9FA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18" b="1">
                  <a:solidFill>
                    <a:srgbClr val="1A202C"/>
                  </a:solidFill>
                  <a:highlight>
                    <a:srgbClr val="F8F9FA"/>
                  </a:highlight>
                  <a:latin typeface="Inter"/>
                  <a:ea typeface="Inter"/>
                  <a:cs typeface="Inter"/>
                  <a:sym typeface="Inter"/>
                </a:rPr>
                <a:t>Semantic Validation</a:t>
              </a:r>
              <a:endParaRPr sz="1018" b="1">
                <a:solidFill>
                  <a:srgbClr val="1A202C"/>
                </a:solidFill>
                <a:highlight>
                  <a:srgbClr val="F8F9FA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833" b="1">
                  <a:solidFill>
                    <a:srgbClr val="2B6CB0"/>
                  </a:solidFill>
                  <a:highlight>
                    <a:srgbClr val="F8F9FA"/>
                  </a:highlight>
                  <a:latin typeface="Inter"/>
                  <a:ea typeface="Inter"/>
                  <a:cs typeface="Inter"/>
                  <a:sym typeface="Inter"/>
                </a:rPr>
                <a:t>Step 3</a:t>
              </a:r>
              <a:endParaRPr sz="833" b="1">
                <a:solidFill>
                  <a:srgbClr val="2B6CB0"/>
                </a:solidFill>
                <a:highlight>
                  <a:srgbClr val="F8F9FA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lang="en" sz="1018" b="1">
                  <a:solidFill>
                    <a:srgbClr val="1A202C"/>
                  </a:solidFill>
                  <a:highlight>
                    <a:srgbClr val="F8F9FA"/>
                  </a:highlight>
                  <a:latin typeface="Inter"/>
                  <a:ea typeface="Inter"/>
                  <a:cs typeface="Inter"/>
                  <a:sym typeface="Inter"/>
                </a:rPr>
                <a:t>Internal Rule Representation</a:t>
              </a:r>
              <a:endParaRPr sz="1018" b="1">
                <a:solidFill>
                  <a:srgbClr val="1A202C"/>
                </a:solidFill>
                <a:highlight>
                  <a:srgbClr val="F8F9FA"/>
                </a:highlight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96" name="Google Shape;96;p16"/>
          <p:cNvSpPr/>
          <p:nvPr/>
        </p:nvSpPr>
        <p:spPr>
          <a:xfrm>
            <a:off x="5943600" y="3095625"/>
            <a:ext cx="133500" cy="0"/>
          </a:xfrm>
          <a:custGeom>
            <a:avLst/>
            <a:gdLst/>
            <a:ahLst/>
            <a:cxnLst/>
            <a:rect l="l" t="t" r="r" b="b"/>
            <a:pathLst>
              <a:path w="120000" h="120000" fill="none" extrusionOk="0">
                <a:moveTo>
                  <a:pt x="0" y="0"/>
                </a:moveTo>
                <a:lnTo>
                  <a:pt x="120000" y="0"/>
                </a:lnTo>
              </a:path>
            </a:pathLst>
          </a:custGeom>
          <a:solidFill>
            <a:srgbClr val="FFFFFF"/>
          </a:solidFill>
          <a:ln w="19050" cap="flat" cmpd="sng">
            <a:solidFill>
              <a:srgbClr val="2B6C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7" name="Google Shape;97;p16"/>
          <p:cNvGrpSpPr/>
          <p:nvPr/>
        </p:nvGrpSpPr>
        <p:grpSpPr>
          <a:xfrm>
            <a:off x="6153150" y="1524000"/>
            <a:ext cx="2600400" cy="3143400"/>
            <a:chOff x="0" y="0"/>
            <a:chExt cx="2600400" cy="3143400"/>
          </a:xfrm>
        </p:grpSpPr>
        <p:sp>
          <p:nvSpPr>
            <p:cNvPr id="98" name="Google Shape;98;p16"/>
            <p:cNvSpPr/>
            <p:nvPr/>
          </p:nvSpPr>
          <p:spPr>
            <a:xfrm>
              <a:off x="0" y="0"/>
              <a:ext cx="2600400" cy="31434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6"/>
            <p:cNvSpPr/>
            <p:nvPr/>
          </p:nvSpPr>
          <p:spPr>
            <a:xfrm>
              <a:off x="0" y="0"/>
              <a:ext cx="2600400" cy="38100"/>
            </a:xfrm>
            <a:prstGeom prst="rect">
              <a:avLst/>
            </a:prstGeom>
            <a:solidFill>
              <a:srgbClr val="2B6CB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6"/>
            <p:cNvSpPr txBox="1"/>
            <p:nvPr/>
          </p:nvSpPr>
          <p:spPr>
            <a:xfrm>
              <a:off x="190500" y="190500"/>
              <a:ext cx="22194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Output Phase</a:t>
              </a:r>
              <a:endParaRPr sz="1200" b="1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Deterministic Result</a:t>
              </a:r>
              <a:endParaRPr sz="1800" b="1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20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Generates an executable compiler transformation directly.</a:t>
              </a:r>
              <a:endParaRPr sz="120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1A202C"/>
                  </a:solidFill>
                  <a:highlight>
                    <a:srgbClr val="EDF2F7"/>
                  </a:highlight>
                  <a:latin typeface="Fira Code"/>
                  <a:ea typeface="Fira Code"/>
                  <a:cs typeface="Fira Code"/>
                  <a:sym typeface="Fira Code"/>
                </a:rPr>
                <a:t>add(x, 0) -&gt; x</a:t>
              </a:r>
              <a:endParaRPr sz="1000" b="0">
                <a:solidFill>
                  <a:srgbClr val="1A202C"/>
                </a:solidFill>
                <a:highlight>
                  <a:srgbClr val="EDF2F7"/>
                </a:highlight>
                <a:latin typeface="Fira Code"/>
                <a:ea typeface="Fira Code"/>
                <a:cs typeface="Fira Code"/>
                <a:sym typeface="Fira Code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rgbClr val="E53E3E"/>
                  </a:solidFill>
                  <a:latin typeface="Inter"/>
                  <a:ea typeface="Inter"/>
                  <a:cs typeface="Inter"/>
                  <a:sym typeface="Inter"/>
                </a:rPr>
                <a:t>Correctness Guaranteed</a:t>
              </a:r>
              <a:endParaRPr sz="900" b="1">
                <a:solidFill>
                  <a:srgbClr val="E53E3E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900"/>
                </a:spcAft>
                <a:buNone/>
              </a:pPr>
              <a:r>
                <a:rPr lang="en" sz="1000" b="0">
                  <a:solidFill>
                    <a:srgbClr val="C53030"/>
                  </a:solidFill>
                  <a:highlight>
                    <a:srgbClr val="FFF5F5"/>
                  </a:highlight>
                  <a:latin typeface="Inter"/>
                  <a:ea typeface="Inter"/>
                  <a:cs typeface="Inter"/>
                  <a:sym typeface="Inter"/>
                </a:rPr>
                <a:t>Operates without relying on unrestricted, opaque large language models.</a:t>
              </a:r>
              <a:endParaRPr sz="1000" b="0">
                <a:solidFill>
                  <a:srgbClr val="C53030"/>
                </a:solidFill>
                <a:highlight>
                  <a:srgbClr val="FFF5F5"/>
                </a:highlight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17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06" name="Google Shape;106;p17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7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8" name="Google Shape;108;p17"/>
          <p:cNvGrpSpPr/>
          <p:nvPr/>
        </p:nvGrpSpPr>
        <p:grpSpPr>
          <a:xfrm>
            <a:off x="7620000" y="285750"/>
            <a:ext cx="1657500" cy="285900"/>
            <a:chOff x="0" y="0"/>
            <a:chExt cx="1657500" cy="285900"/>
          </a:xfrm>
        </p:grpSpPr>
        <p:sp>
          <p:nvSpPr>
            <p:cNvPr id="109" name="Google Shape;109;p17"/>
            <p:cNvSpPr/>
            <p:nvPr/>
          </p:nvSpPr>
          <p:spPr>
            <a:xfrm>
              <a:off x="0" y="38100"/>
              <a:ext cx="152400" cy="152400"/>
            </a:xfrm>
            <a:prstGeom prst="rect">
              <a:avLst/>
            </a:prstGeom>
            <a:solidFill>
              <a:srgbClr val="2B6CB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7"/>
            <p:cNvSpPr txBox="1"/>
            <p:nvPr/>
          </p:nvSpPr>
          <p:spPr>
            <a:xfrm>
              <a:off x="228600" y="0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rgbClr val="1A202C"/>
                  </a:solidFill>
                  <a:latin typeface="Fira Code"/>
                  <a:ea typeface="Fira Code"/>
                  <a:cs typeface="Fira Code"/>
                  <a:sym typeface="Fira Code"/>
                </a:rPr>
                <a:t>NLOpt</a:t>
              </a:r>
              <a:endParaRPr sz="1800" b="1">
                <a:solidFill>
                  <a:srgbClr val="1A202C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111" name="Google Shape;111;p17"/>
          <p:cNvSpPr txBox="1"/>
          <p:nvPr/>
        </p:nvSpPr>
        <p:spPr>
          <a:xfrm>
            <a:off x="381000" y="285750"/>
            <a:ext cx="7048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900"/>
              </a:spcAft>
              <a:buNone/>
            </a:pPr>
            <a:r>
              <a:rPr lang="en" sz="1870" b="0">
                <a:solidFill>
                  <a:srgbClr val="1A202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NLOpt Directly Maps to Standard Compiler Construction Phases</a:t>
            </a:r>
            <a:endParaRPr sz="1870" b="0">
              <a:solidFill>
                <a:srgbClr val="1A202C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cxnSp>
        <p:nvCxnSpPr>
          <p:cNvPr id="112" name="Google Shape;112;p17"/>
          <p:cNvCxnSpPr/>
          <p:nvPr/>
        </p:nvCxnSpPr>
        <p:spPr>
          <a:xfrm>
            <a:off x="381000" y="857250"/>
            <a:ext cx="8382000" cy="0"/>
          </a:xfrm>
          <a:prstGeom prst="straightConnector1">
            <a:avLst/>
          </a:prstGeom>
          <a:solidFill>
            <a:srgbClr val="FFFFFF"/>
          </a:solidFill>
          <a:ln w="190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3" name="Google Shape;113;p17"/>
          <p:cNvSpPr txBox="1"/>
          <p:nvPr/>
        </p:nvSpPr>
        <p:spPr>
          <a:xfrm>
            <a:off x="381000" y="1095375"/>
            <a:ext cx="8382000" cy="37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NLOpt is fundamentally a deterministic compiler construction project that utilizes standard phases:</a:t>
            </a:r>
            <a:endParaRPr sz="1500" b="0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7500" algn="l" rtl="0">
              <a:spcBef>
                <a:spcPts val="1050"/>
              </a:spcBef>
              <a:spcAft>
                <a:spcPts val="0"/>
              </a:spcAft>
              <a:buSzPts val="1400"/>
              <a:buChar char="●"/>
            </a:pPr>
            <a:r>
              <a:rPr lang="en" sz="1500" b="1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rPr>
              <a:t>Lexical Analysis:</a:t>
            </a:r>
            <a:r>
              <a:rPr lang="en" sz="150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Flex tokenizes controlled-natural-language keywords.</a:t>
            </a:r>
            <a:endParaRPr sz="1500" b="0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7500" algn="l" rtl="0">
              <a:spcBef>
                <a:spcPts val="750"/>
              </a:spcBef>
              <a:spcAft>
                <a:spcPts val="0"/>
              </a:spcAft>
              <a:buSzPts val="1400"/>
              <a:buChar char="●"/>
            </a:pPr>
            <a:r>
              <a:rPr lang="en" sz="1500" b="1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rPr>
              <a:t>Syntax Analysis:</a:t>
            </a:r>
            <a:r>
              <a:rPr lang="en" sz="150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Bison checks if the sentence follows the predefined NLOpt grammar.</a:t>
            </a:r>
            <a:endParaRPr sz="1500" b="0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7500" algn="l" rtl="0">
              <a:spcBef>
                <a:spcPts val="750"/>
              </a:spcBef>
              <a:spcAft>
                <a:spcPts val="0"/>
              </a:spcAft>
              <a:buSzPts val="1400"/>
              <a:buChar char="●"/>
            </a:pPr>
            <a:r>
              <a:rPr lang="en" sz="1500" b="1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rPr>
              <a:t>AST Construction:</a:t>
            </a:r>
            <a:r>
              <a:rPr lang="en" sz="150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Represents the English sentence structurally.</a:t>
            </a:r>
            <a:endParaRPr sz="1500" b="0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7500" algn="l" rtl="0">
              <a:spcBef>
                <a:spcPts val="750"/>
              </a:spcBef>
              <a:spcAft>
                <a:spcPts val="0"/>
              </a:spcAft>
              <a:buSzPts val="1400"/>
              <a:buChar char="●"/>
            </a:pPr>
            <a:r>
              <a:rPr lang="en" sz="1500" b="1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rPr>
              <a:t>Semantic Analysis:</a:t>
            </a:r>
            <a:r>
              <a:rPr lang="en" sz="150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Checks transformation safety and meaningfulness.</a:t>
            </a:r>
            <a:endParaRPr sz="1500" b="0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7500" algn="l" rtl="0">
              <a:spcBef>
                <a:spcPts val="750"/>
              </a:spcBef>
              <a:spcAft>
                <a:spcPts val="0"/>
              </a:spcAft>
              <a:buSzPts val="1400"/>
              <a:buChar char="●"/>
            </a:pPr>
            <a:r>
              <a:rPr lang="en" sz="1500" b="1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rPr>
              <a:t>Intermediate Representation:</a:t>
            </a:r>
            <a:r>
              <a:rPr lang="en" sz="150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Converts the AST into a formal pattern-rewrite representation.</a:t>
            </a:r>
            <a:endParaRPr sz="1500" b="0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7500" algn="l" rtl="0">
              <a:spcBef>
                <a:spcPts val="750"/>
              </a:spcBef>
              <a:spcAft>
                <a:spcPts val="1200"/>
              </a:spcAft>
              <a:buSzPts val="1400"/>
              <a:buChar char="●"/>
            </a:pPr>
            <a:r>
              <a:rPr lang="en" sz="1500" b="1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rPr>
              <a:t>Code Generation:</a:t>
            </a:r>
            <a:r>
              <a:rPr lang="en" sz="150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Emits LLVM or MLIR-oriented rewrite code.</a:t>
            </a:r>
            <a:endParaRPr sz="1500" b="0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8"/>
          <p:cNvSpPr/>
          <p:nvPr/>
        </p:nvSpPr>
        <p:spPr>
          <a:xfrm>
            <a:off x="0" y="0"/>
            <a:ext cx="9144000" cy="1524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0" name="Google Shape;120;p18"/>
          <p:cNvGrpSpPr/>
          <p:nvPr/>
        </p:nvGrpSpPr>
        <p:grpSpPr>
          <a:xfrm>
            <a:off x="7429500" y="4667250"/>
            <a:ext cx="1657500" cy="285900"/>
            <a:chOff x="0" y="0"/>
            <a:chExt cx="1657500" cy="285900"/>
          </a:xfrm>
        </p:grpSpPr>
        <p:sp>
          <p:nvSpPr>
            <p:cNvPr id="121" name="Google Shape;121;p18"/>
            <p:cNvSpPr/>
            <p:nvPr/>
          </p:nvSpPr>
          <p:spPr>
            <a:xfrm>
              <a:off x="0" y="38100"/>
              <a:ext cx="152400" cy="152400"/>
            </a:xfrm>
            <a:prstGeom prst="rect">
              <a:avLst/>
            </a:prstGeom>
            <a:solidFill>
              <a:srgbClr val="2B6CB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8"/>
            <p:cNvSpPr txBox="1"/>
            <p:nvPr/>
          </p:nvSpPr>
          <p:spPr>
            <a:xfrm>
              <a:off x="228600" y="0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rgbClr val="1A202C"/>
                  </a:solidFill>
                  <a:latin typeface="Fira Code"/>
                  <a:ea typeface="Fira Code"/>
                  <a:cs typeface="Fira Code"/>
                  <a:sym typeface="Fira Code"/>
                </a:rPr>
                <a:t>NLOpt</a:t>
              </a:r>
              <a:endParaRPr sz="1800" b="1">
                <a:solidFill>
                  <a:srgbClr val="1A202C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123" name="Google Shape;123;p18"/>
          <p:cNvSpPr txBox="1"/>
          <p:nvPr/>
        </p:nvSpPr>
        <p:spPr>
          <a:xfrm>
            <a:off x="381000" y="304800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 b="0">
                <a:solidFill>
                  <a:srgbClr val="1A202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NLOpt Architecture Translates Text to Optimized Compiler Passes</a:t>
            </a:r>
            <a:endParaRPr sz="1850" b="0">
              <a:solidFill>
                <a:srgbClr val="1A202C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24" name="Google Shape;124;p18"/>
          <p:cNvSpPr txBox="1"/>
          <p:nvPr/>
        </p:nvSpPr>
        <p:spPr>
          <a:xfrm>
            <a:off x="381000" y="762000"/>
            <a:ext cx="8382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900"/>
              </a:spcAft>
              <a:buNone/>
            </a:pPr>
            <a:r>
              <a:rPr lang="en" sz="1100" b="0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rPr>
              <a:t>The central pipeline transforms source specifications into optimized passes through a strict sequence:</a:t>
            </a:r>
            <a:endParaRPr sz="1100" b="0">
              <a:solidFill>
                <a:srgbClr val="71809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25" name="Google Shape;125;p18"/>
          <p:cNvGrpSpPr/>
          <p:nvPr/>
        </p:nvGrpSpPr>
        <p:grpSpPr>
          <a:xfrm>
            <a:off x="381000" y="1238250"/>
            <a:ext cx="1028700" cy="2762400"/>
            <a:chOff x="0" y="0"/>
            <a:chExt cx="1028700" cy="2762400"/>
          </a:xfrm>
        </p:grpSpPr>
        <p:sp>
          <p:nvSpPr>
            <p:cNvPr id="126" name="Google Shape;126;p18"/>
            <p:cNvSpPr/>
            <p:nvPr/>
          </p:nvSpPr>
          <p:spPr>
            <a:xfrm>
              <a:off x="0" y="0"/>
              <a:ext cx="1028700" cy="2762400"/>
            </a:xfrm>
            <a:prstGeom prst="roundRect">
              <a:avLst>
                <a:gd name="adj" fmla="val 1851"/>
              </a:avLst>
            </a:prstGeom>
            <a:solidFill>
              <a:srgbClr val="FFFFFF"/>
            </a:solidFill>
            <a:ln w="14300" cap="flat" cmpd="sng">
              <a:solidFill>
                <a:srgbClr val="2B6CB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0" y="0"/>
              <a:ext cx="1028700" cy="228600"/>
            </a:xfrm>
            <a:prstGeom prst="rect">
              <a:avLst/>
            </a:prstGeom>
            <a:solidFill>
              <a:srgbClr val="EDF2F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8"/>
            <p:cNvSpPr txBox="1"/>
            <p:nvPr/>
          </p:nvSpPr>
          <p:spPr>
            <a:xfrm>
              <a:off x="38100" y="38100"/>
              <a:ext cx="9525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2B6CB0"/>
                  </a:solidFill>
                  <a:latin typeface="Inter"/>
                  <a:ea typeface="Inter"/>
                  <a:cs typeface="Inter"/>
                  <a:sym typeface="Inter"/>
                </a:rPr>
                <a:t>STAGE 01</a:t>
              </a:r>
              <a:endParaRPr sz="800" b="1">
                <a:solidFill>
                  <a:srgbClr val="2B6CB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9" name="Google Shape;129;p18"/>
            <p:cNvSpPr txBox="1"/>
            <p:nvPr/>
          </p:nvSpPr>
          <p:spPr>
            <a:xfrm>
              <a:off x="57150" y="323850"/>
              <a:ext cx="914400" cy="234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Lexer</a:t>
              </a:r>
              <a:endParaRPr sz="1100" b="1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718096"/>
                  </a:solidFill>
                  <a:latin typeface="Inter"/>
                  <a:ea typeface="Inter"/>
                  <a:cs typeface="Inter"/>
                  <a:sym typeface="Inter"/>
                </a:rPr>
                <a:t>INPUT</a:t>
              </a:r>
              <a:endParaRPr sz="750" b="1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950" b="0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Character stream</a:t>
              </a:r>
              <a:endParaRPr sz="950" b="0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718096"/>
                  </a:solidFill>
                  <a:latin typeface="Inter"/>
                  <a:ea typeface="Inter"/>
                  <a:cs typeface="Inter"/>
                  <a:sym typeface="Inter"/>
                </a:rPr>
                <a:t>OUTPUT</a:t>
              </a:r>
              <a:endParaRPr sz="750" b="1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300"/>
                </a:spcBef>
                <a:spcAft>
                  <a:spcPts val="900"/>
                </a:spcAft>
                <a:buNone/>
              </a:pPr>
              <a:r>
                <a:rPr lang="en" sz="950" b="0">
                  <a:solidFill>
                    <a:srgbClr val="2B6CB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Tokens</a:t>
              </a:r>
              <a:endParaRPr sz="950" b="0">
                <a:solidFill>
                  <a:srgbClr val="2B6CB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130" name="Google Shape;130;p18"/>
          <p:cNvSpPr/>
          <p:nvPr/>
        </p:nvSpPr>
        <p:spPr>
          <a:xfrm>
            <a:off x="1428750" y="2581275"/>
            <a:ext cx="133500" cy="76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45000"/>
                </a:moveTo>
                <a:lnTo>
                  <a:pt x="68571" y="45000"/>
                </a:lnTo>
                <a:lnTo>
                  <a:pt x="68571" y="0"/>
                </a:lnTo>
                <a:lnTo>
                  <a:pt x="120000" y="60000"/>
                </a:lnTo>
                <a:lnTo>
                  <a:pt x="68571" y="120000"/>
                </a:lnTo>
                <a:lnTo>
                  <a:pt x="68571" y="75000"/>
                </a:lnTo>
                <a:lnTo>
                  <a:pt x="0" y="75000"/>
                </a:lnTo>
                <a:close/>
              </a:path>
            </a:pathLst>
          </a:custGeom>
          <a:solidFill>
            <a:srgbClr val="2B6CB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1" name="Google Shape;131;p18"/>
          <p:cNvGrpSpPr/>
          <p:nvPr/>
        </p:nvGrpSpPr>
        <p:grpSpPr>
          <a:xfrm>
            <a:off x="1581150" y="1238250"/>
            <a:ext cx="1028700" cy="2762400"/>
            <a:chOff x="0" y="0"/>
            <a:chExt cx="1028700" cy="2762400"/>
          </a:xfrm>
        </p:grpSpPr>
        <p:sp>
          <p:nvSpPr>
            <p:cNvPr id="132" name="Google Shape;132;p18"/>
            <p:cNvSpPr/>
            <p:nvPr/>
          </p:nvSpPr>
          <p:spPr>
            <a:xfrm>
              <a:off x="0" y="0"/>
              <a:ext cx="1028700" cy="2762400"/>
            </a:xfrm>
            <a:prstGeom prst="roundRect">
              <a:avLst>
                <a:gd name="adj" fmla="val 1851"/>
              </a:avLst>
            </a:prstGeom>
            <a:solidFill>
              <a:srgbClr val="FFFFFF"/>
            </a:solidFill>
            <a:ln w="14300" cap="flat" cmpd="sng">
              <a:solidFill>
                <a:srgbClr val="2B6CB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8"/>
            <p:cNvSpPr/>
            <p:nvPr/>
          </p:nvSpPr>
          <p:spPr>
            <a:xfrm>
              <a:off x="0" y="0"/>
              <a:ext cx="1028700" cy="228600"/>
            </a:xfrm>
            <a:prstGeom prst="rect">
              <a:avLst/>
            </a:prstGeom>
            <a:solidFill>
              <a:srgbClr val="EDF2F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8"/>
            <p:cNvSpPr txBox="1"/>
            <p:nvPr/>
          </p:nvSpPr>
          <p:spPr>
            <a:xfrm>
              <a:off x="38100" y="38100"/>
              <a:ext cx="9525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2B6CB0"/>
                  </a:solidFill>
                  <a:latin typeface="Inter"/>
                  <a:ea typeface="Inter"/>
                  <a:cs typeface="Inter"/>
                  <a:sym typeface="Inter"/>
                </a:rPr>
                <a:t>STAGE 02</a:t>
              </a:r>
              <a:endParaRPr sz="800" b="1">
                <a:solidFill>
                  <a:srgbClr val="2B6CB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35" name="Google Shape;135;p18"/>
            <p:cNvSpPr txBox="1"/>
            <p:nvPr/>
          </p:nvSpPr>
          <p:spPr>
            <a:xfrm>
              <a:off x="57150" y="323850"/>
              <a:ext cx="914400" cy="234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Parser</a:t>
              </a:r>
              <a:endParaRPr sz="1100" b="1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718096"/>
                  </a:solidFill>
                  <a:latin typeface="Inter"/>
                  <a:ea typeface="Inter"/>
                  <a:cs typeface="Inter"/>
                  <a:sym typeface="Inter"/>
                </a:rPr>
                <a:t>INPUT</a:t>
              </a:r>
              <a:endParaRPr sz="750" b="1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950" b="0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Tokens</a:t>
              </a:r>
              <a:endParaRPr sz="950" b="0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718096"/>
                  </a:solidFill>
                  <a:latin typeface="Inter"/>
                  <a:ea typeface="Inter"/>
                  <a:cs typeface="Inter"/>
                  <a:sym typeface="Inter"/>
                </a:rPr>
                <a:t>OUTPUT</a:t>
              </a:r>
              <a:endParaRPr sz="750" b="1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300"/>
                </a:spcBef>
                <a:spcAft>
                  <a:spcPts val="900"/>
                </a:spcAft>
                <a:buNone/>
              </a:pPr>
              <a:r>
                <a:rPr lang="en" sz="950" b="0">
                  <a:solidFill>
                    <a:srgbClr val="2B6CB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Parse Tree (CFG)</a:t>
              </a:r>
              <a:endParaRPr sz="950" b="0">
                <a:solidFill>
                  <a:srgbClr val="2B6CB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136" name="Google Shape;136;p18"/>
          <p:cNvSpPr/>
          <p:nvPr/>
        </p:nvSpPr>
        <p:spPr>
          <a:xfrm>
            <a:off x="2628900" y="2581275"/>
            <a:ext cx="133500" cy="76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45000"/>
                </a:moveTo>
                <a:lnTo>
                  <a:pt x="68571" y="45000"/>
                </a:lnTo>
                <a:lnTo>
                  <a:pt x="68571" y="0"/>
                </a:lnTo>
                <a:lnTo>
                  <a:pt x="120000" y="60000"/>
                </a:lnTo>
                <a:lnTo>
                  <a:pt x="68571" y="120000"/>
                </a:lnTo>
                <a:lnTo>
                  <a:pt x="68571" y="75000"/>
                </a:lnTo>
                <a:lnTo>
                  <a:pt x="0" y="75000"/>
                </a:lnTo>
                <a:close/>
              </a:path>
            </a:pathLst>
          </a:custGeom>
          <a:solidFill>
            <a:srgbClr val="2B6CB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7" name="Google Shape;137;p18"/>
          <p:cNvGrpSpPr/>
          <p:nvPr/>
        </p:nvGrpSpPr>
        <p:grpSpPr>
          <a:xfrm>
            <a:off x="2781300" y="1238250"/>
            <a:ext cx="1028700" cy="2762400"/>
            <a:chOff x="0" y="0"/>
            <a:chExt cx="1028700" cy="2762400"/>
          </a:xfrm>
        </p:grpSpPr>
        <p:sp>
          <p:nvSpPr>
            <p:cNvPr id="138" name="Google Shape;138;p18"/>
            <p:cNvSpPr/>
            <p:nvPr/>
          </p:nvSpPr>
          <p:spPr>
            <a:xfrm>
              <a:off x="0" y="0"/>
              <a:ext cx="1028700" cy="2762400"/>
            </a:xfrm>
            <a:prstGeom prst="roundRect">
              <a:avLst>
                <a:gd name="adj" fmla="val 1851"/>
              </a:avLst>
            </a:prstGeom>
            <a:solidFill>
              <a:srgbClr val="FFFFFF"/>
            </a:solidFill>
            <a:ln w="14300" cap="flat" cmpd="sng">
              <a:solidFill>
                <a:srgbClr val="2B6CB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8"/>
            <p:cNvSpPr/>
            <p:nvPr/>
          </p:nvSpPr>
          <p:spPr>
            <a:xfrm>
              <a:off x="0" y="0"/>
              <a:ext cx="1028700" cy="228600"/>
            </a:xfrm>
            <a:prstGeom prst="rect">
              <a:avLst/>
            </a:prstGeom>
            <a:solidFill>
              <a:srgbClr val="EDF2F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8"/>
            <p:cNvSpPr txBox="1"/>
            <p:nvPr/>
          </p:nvSpPr>
          <p:spPr>
            <a:xfrm>
              <a:off x="38100" y="38100"/>
              <a:ext cx="9525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2B6CB0"/>
                  </a:solidFill>
                  <a:latin typeface="Inter"/>
                  <a:ea typeface="Inter"/>
                  <a:cs typeface="Inter"/>
                  <a:sym typeface="Inter"/>
                </a:rPr>
                <a:t>STAGE 03</a:t>
              </a:r>
              <a:endParaRPr sz="800" b="1">
                <a:solidFill>
                  <a:srgbClr val="2B6CB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1" name="Google Shape;141;p18"/>
            <p:cNvSpPr txBox="1"/>
            <p:nvPr/>
          </p:nvSpPr>
          <p:spPr>
            <a:xfrm>
              <a:off x="57150" y="323850"/>
              <a:ext cx="914400" cy="234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AST Builder</a:t>
              </a:r>
              <a:endParaRPr sz="1100" b="1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718096"/>
                  </a:solidFill>
                  <a:latin typeface="Inter"/>
                  <a:ea typeface="Inter"/>
                  <a:cs typeface="Inter"/>
                  <a:sym typeface="Inter"/>
                </a:rPr>
                <a:t>INPUT</a:t>
              </a:r>
              <a:endParaRPr sz="750" b="1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950" b="0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Parse Tree</a:t>
              </a:r>
              <a:endParaRPr sz="950" b="0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718096"/>
                  </a:solidFill>
                  <a:latin typeface="Inter"/>
                  <a:ea typeface="Inter"/>
                  <a:cs typeface="Inter"/>
                  <a:sym typeface="Inter"/>
                </a:rPr>
                <a:t>OUTPUT</a:t>
              </a:r>
              <a:endParaRPr sz="750" b="1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300"/>
                </a:spcBef>
                <a:spcAft>
                  <a:spcPts val="900"/>
                </a:spcAft>
                <a:buNone/>
              </a:pPr>
              <a:r>
                <a:rPr lang="en" sz="950" b="0">
                  <a:solidFill>
                    <a:srgbClr val="2B6CB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NLOpt AST</a:t>
              </a:r>
              <a:endParaRPr sz="950" b="0">
                <a:solidFill>
                  <a:srgbClr val="2B6CB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142" name="Google Shape;142;p18"/>
          <p:cNvSpPr/>
          <p:nvPr/>
        </p:nvSpPr>
        <p:spPr>
          <a:xfrm>
            <a:off x="3829050" y="2581275"/>
            <a:ext cx="133500" cy="76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45000"/>
                </a:moveTo>
                <a:lnTo>
                  <a:pt x="68571" y="45000"/>
                </a:lnTo>
                <a:lnTo>
                  <a:pt x="68571" y="0"/>
                </a:lnTo>
                <a:lnTo>
                  <a:pt x="120000" y="60000"/>
                </a:lnTo>
                <a:lnTo>
                  <a:pt x="68571" y="120000"/>
                </a:lnTo>
                <a:lnTo>
                  <a:pt x="68571" y="75000"/>
                </a:lnTo>
                <a:lnTo>
                  <a:pt x="0" y="75000"/>
                </a:lnTo>
                <a:close/>
              </a:path>
            </a:pathLst>
          </a:custGeom>
          <a:solidFill>
            <a:srgbClr val="2B6CB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3" name="Google Shape;143;p18"/>
          <p:cNvGrpSpPr/>
          <p:nvPr/>
        </p:nvGrpSpPr>
        <p:grpSpPr>
          <a:xfrm>
            <a:off x="3981450" y="1238250"/>
            <a:ext cx="1028700" cy="2762400"/>
            <a:chOff x="0" y="0"/>
            <a:chExt cx="1028700" cy="2762400"/>
          </a:xfrm>
        </p:grpSpPr>
        <p:sp>
          <p:nvSpPr>
            <p:cNvPr id="144" name="Google Shape;144;p18"/>
            <p:cNvSpPr/>
            <p:nvPr/>
          </p:nvSpPr>
          <p:spPr>
            <a:xfrm>
              <a:off x="0" y="0"/>
              <a:ext cx="1028700" cy="2762400"/>
            </a:xfrm>
            <a:prstGeom prst="roundRect">
              <a:avLst>
                <a:gd name="adj" fmla="val 1851"/>
              </a:avLst>
            </a:prstGeom>
            <a:solidFill>
              <a:srgbClr val="FFFFFF"/>
            </a:solidFill>
            <a:ln w="14300" cap="flat" cmpd="sng">
              <a:solidFill>
                <a:srgbClr val="2B6CB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8"/>
            <p:cNvSpPr/>
            <p:nvPr/>
          </p:nvSpPr>
          <p:spPr>
            <a:xfrm>
              <a:off x="0" y="0"/>
              <a:ext cx="1028700" cy="228600"/>
            </a:xfrm>
            <a:prstGeom prst="rect">
              <a:avLst/>
            </a:prstGeom>
            <a:solidFill>
              <a:srgbClr val="EDF2F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8"/>
            <p:cNvSpPr txBox="1"/>
            <p:nvPr/>
          </p:nvSpPr>
          <p:spPr>
            <a:xfrm>
              <a:off x="38100" y="38100"/>
              <a:ext cx="9525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2B6CB0"/>
                  </a:solidFill>
                  <a:latin typeface="Inter"/>
                  <a:ea typeface="Inter"/>
                  <a:cs typeface="Inter"/>
                  <a:sym typeface="Inter"/>
                </a:rPr>
                <a:t>STAGE 04</a:t>
              </a:r>
              <a:endParaRPr sz="800" b="1">
                <a:solidFill>
                  <a:srgbClr val="2B6CB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7" name="Google Shape;147;p18"/>
            <p:cNvSpPr txBox="1"/>
            <p:nvPr/>
          </p:nvSpPr>
          <p:spPr>
            <a:xfrm>
              <a:off x="57150" y="323850"/>
              <a:ext cx="914400" cy="234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 b="1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Semantic Checker</a:t>
              </a:r>
              <a:endParaRPr sz="1050" b="1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718096"/>
                  </a:solidFill>
                  <a:latin typeface="Inter"/>
                  <a:ea typeface="Inter"/>
                  <a:cs typeface="Inter"/>
                  <a:sym typeface="Inter"/>
                </a:rPr>
                <a:t>INPUT</a:t>
              </a:r>
              <a:endParaRPr sz="750" b="1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AST</a:t>
              </a:r>
              <a:endParaRPr sz="900" b="0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718096"/>
                  </a:solidFill>
                  <a:latin typeface="Inter"/>
                  <a:ea typeface="Inter"/>
                  <a:cs typeface="Inter"/>
                  <a:sym typeface="Inter"/>
                </a:rPr>
                <a:t>OUTPUT</a:t>
              </a:r>
              <a:endParaRPr sz="750" b="1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2B6CB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Validated Rule</a:t>
              </a:r>
              <a:endParaRPr sz="900" b="0">
                <a:solidFill>
                  <a:srgbClr val="2B6CB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ctr" rtl="0">
                <a:spcBef>
                  <a:spcPts val="300"/>
                </a:spcBef>
                <a:spcAft>
                  <a:spcPts val="900"/>
                </a:spcAft>
                <a:buNone/>
              </a:pPr>
              <a:r>
                <a:rPr lang="en" sz="800" b="0" i="1">
                  <a:solidFill>
                    <a:srgbClr val="E53E3E"/>
                  </a:solidFill>
                  <a:latin typeface="Inter"/>
                  <a:ea typeface="Inter"/>
                  <a:cs typeface="Inter"/>
                  <a:sym typeface="Inter"/>
                </a:rPr>
                <a:t>(Type &amp; Safety Semantics)</a:t>
              </a:r>
              <a:endParaRPr sz="800" b="0" i="1">
                <a:solidFill>
                  <a:srgbClr val="E53E3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48" name="Google Shape;148;p18"/>
          <p:cNvSpPr/>
          <p:nvPr/>
        </p:nvSpPr>
        <p:spPr>
          <a:xfrm>
            <a:off x="5029200" y="2581275"/>
            <a:ext cx="133500" cy="76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45000"/>
                </a:moveTo>
                <a:lnTo>
                  <a:pt x="68571" y="45000"/>
                </a:lnTo>
                <a:lnTo>
                  <a:pt x="68571" y="0"/>
                </a:lnTo>
                <a:lnTo>
                  <a:pt x="120000" y="60000"/>
                </a:lnTo>
                <a:lnTo>
                  <a:pt x="68571" y="120000"/>
                </a:lnTo>
                <a:lnTo>
                  <a:pt x="68571" y="75000"/>
                </a:lnTo>
                <a:lnTo>
                  <a:pt x="0" y="75000"/>
                </a:lnTo>
                <a:close/>
              </a:path>
            </a:pathLst>
          </a:custGeom>
          <a:solidFill>
            <a:srgbClr val="2B6CB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9" name="Google Shape;149;p18"/>
          <p:cNvGrpSpPr/>
          <p:nvPr/>
        </p:nvGrpSpPr>
        <p:grpSpPr>
          <a:xfrm>
            <a:off x="5181600" y="1238250"/>
            <a:ext cx="1028700" cy="2762400"/>
            <a:chOff x="0" y="0"/>
            <a:chExt cx="1028700" cy="2762400"/>
          </a:xfrm>
        </p:grpSpPr>
        <p:sp>
          <p:nvSpPr>
            <p:cNvPr id="150" name="Google Shape;150;p18"/>
            <p:cNvSpPr/>
            <p:nvPr/>
          </p:nvSpPr>
          <p:spPr>
            <a:xfrm>
              <a:off x="0" y="0"/>
              <a:ext cx="1028700" cy="2762400"/>
            </a:xfrm>
            <a:prstGeom prst="roundRect">
              <a:avLst>
                <a:gd name="adj" fmla="val 1851"/>
              </a:avLst>
            </a:prstGeom>
            <a:solidFill>
              <a:srgbClr val="FFFFFF"/>
            </a:solidFill>
            <a:ln w="14300" cap="flat" cmpd="sng">
              <a:solidFill>
                <a:srgbClr val="2B6CB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8"/>
            <p:cNvSpPr/>
            <p:nvPr/>
          </p:nvSpPr>
          <p:spPr>
            <a:xfrm>
              <a:off x="0" y="0"/>
              <a:ext cx="1028700" cy="228600"/>
            </a:xfrm>
            <a:prstGeom prst="rect">
              <a:avLst/>
            </a:prstGeom>
            <a:solidFill>
              <a:srgbClr val="EDF2F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8"/>
            <p:cNvSpPr txBox="1"/>
            <p:nvPr/>
          </p:nvSpPr>
          <p:spPr>
            <a:xfrm>
              <a:off x="38100" y="38100"/>
              <a:ext cx="9525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2B6CB0"/>
                  </a:solidFill>
                  <a:latin typeface="Inter"/>
                  <a:ea typeface="Inter"/>
                  <a:cs typeface="Inter"/>
                  <a:sym typeface="Inter"/>
                </a:rPr>
                <a:t>STAGE 05</a:t>
              </a:r>
              <a:endParaRPr sz="800" b="1">
                <a:solidFill>
                  <a:srgbClr val="2B6CB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53" name="Google Shape;153;p18"/>
            <p:cNvSpPr txBox="1"/>
            <p:nvPr/>
          </p:nvSpPr>
          <p:spPr>
            <a:xfrm>
              <a:off x="57150" y="323850"/>
              <a:ext cx="914400" cy="234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Rule IR</a:t>
              </a:r>
              <a:endParaRPr sz="1100" b="1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718096"/>
                  </a:solidFill>
                  <a:latin typeface="Inter"/>
                  <a:ea typeface="Inter"/>
                  <a:cs typeface="Inter"/>
                  <a:sym typeface="Inter"/>
                </a:rPr>
                <a:t>INPUT</a:t>
              </a:r>
              <a:endParaRPr sz="750" b="1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Validated Rule</a:t>
              </a:r>
              <a:endParaRPr sz="850" b="0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718096"/>
                  </a:solidFill>
                  <a:latin typeface="Inter"/>
                  <a:ea typeface="Inter"/>
                  <a:cs typeface="Inter"/>
                  <a:sym typeface="Inter"/>
                </a:rPr>
                <a:t>OUTPUT</a:t>
              </a:r>
              <a:endParaRPr sz="750" b="1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300"/>
                </a:spcBef>
                <a:spcAft>
                  <a:spcPts val="900"/>
                </a:spcAft>
                <a:buNone/>
              </a:pPr>
              <a:r>
                <a:rPr lang="en" sz="850" b="0">
                  <a:solidFill>
                    <a:srgbClr val="2B6CB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Match + Constraints + Replacement</a:t>
              </a:r>
              <a:endParaRPr sz="850" b="0">
                <a:solidFill>
                  <a:srgbClr val="2B6CB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154" name="Google Shape;154;p18"/>
          <p:cNvSpPr/>
          <p:nvPr/>
        </p:nvSpPr>
        <p:spPr>
          <a:xfrm>
            <a:off x="6229350" y="2581275"/>
            <a:ext cx="133500" cy="76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45000"/>
                </a:moveTo>
                <a:lnTo>
                  <a:pt x="68571" y="45000"/>
                </a:lnTo>
                <a:lnTo>
                  <a:pt x="68571" y="0"/>
                </a:lnTo>
                <a:lnTo>
                  <a:pt x="120000" y="60000"/>
                </a:lnTo>
                <a:lnTo>
                  <a:pt x="68571" y="120000"/>
                </a:lnTo>
                <a:lnTo>
                  <a:pt x="68571" y="75000"/>
                </a:lnTo>
                <a:lnTo>
                  <a:pt x="0" y="75000"/>
                </a:lnTo>
                <a:close/>
              </a:path>
            </a:pathLst>
          </a:custGeom>
          <a:solidFill>
            <a:srgbClr val="2B6CB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5" name="Google Shape;155;p18"/>
          <p:cNvGrpSpPr/>
          <p:nvPr/>
        </p:nvGrpSpPr>
        <p:grpSpPr>
          <a:xfrm>
            <a:off x="6381750" y="1238250"/>
            <a:ext cx="1028700" cy="2762400"/>
            <a:chOff x="0" y="0"/>
            <a:chExt cx="1028700" cy="2762400"/>
          </a:xfrm>
        </p:grpSpPr>
        <p:sp>
          <p:nvSpPr>
            <p:cNvPr id="156" name="Google Shape;156;p18"/>
            <p:cNvSpPr/>
            <p:nvPr/>
          </p:nvSpPr>
          <p:spPr>
            <a:xfrm>
              <a:off x="0" y="0"/>
              <a:ext cx="1028700" cy="2762400"/>
            </a:xfrm>
            <a:prstGeom prst="roundRect">
              <a:avLst>
                <a:gd name="adj" fmla="val 1851"/>
              </a:avLst>
            </a:prstGeom>
            <a:solidFill>
              <a:srgbClr val="FFFFFF"/>
            </a:solidFill>
            <a:ln w="14300" cap="flat" cmpd="sng">
              <a:solidFill>
                <a:srgbClr val="2B6CB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8"/>
            <p:cNvSpPr/>
            <p:nvPr/>
          </p:nvSpPr>
          <p:spPr>
            <a:xfrm>
              <a:off x="0" y="0"/>
              <a:ext cx="1028700" cy="228600"/>
            </a:xfrm>
            <a:prstGeom prst="rect">
              <a:avLst/>
            </a:prstGeom>
            <a:solidFill>
              <a:srgbClr val="EDF2F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8"/>
            <p:cNvSpPr txBox="1"/>
            <p:nvPr/>
          </p:nvSpPr>
          <p:spPr>
            <a:xfrm>
              <a:off x="38100" y="38100"/>
              <a:ext cx="9525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2B6CB0"/>
                  </a:solidFill>
                  <a:latin typeface="Inter"/>
                  <a:ea typeface="Inter"/>
                  <a:cs typeface="Inter"/>
                  <a:sym typeface="Inter"/>
                </a:rPr>
                <a:t>STAGE 06</a:t>
              </a:r>
              <a:endParaRPr sz="800" b="1">
                <a:solidFill>
                  <a:srgbClr val="2B6CB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59" name="Google Shape;159;p18"/>
            <p:cNvSpPr txBox="1"/>
            <p:nvPr/>
          </p:nvSpPr>
          <p:spPr>
            <a:xfrm>
              <a:off x="57150" y="323850"/>
              <a:ext cx="914400" cy="234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Backend</a:t>
              </a:r>
              <a:endParaRPr sz="1100" b="1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718096"/>
                  </a:solidFill>
                  <a:latin typeface="Inter"/>
                  <a:ea typeface="Inter"/>
                  <a:cs typeface="Inter"/>
                  <a:sym typeface="Inter"/>
                </a:rPr>
                <a:t>INPUT</a:t>
              </a:r>
              <a:endParaRPr sz="750" b="1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Rule IR</a:t>
              </a:r>
              <a:endParaRPr sz="900" b="0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718096"/>
                  </a:solidFill>
                  <a:latin typeface="Inter"/>
                  <a:ea typeface="Inter"/>
                  <a:cs typeface="Inter"/>
                  <a:sym typeface="Inter"/>
                </a:rPr>
                <a:t>OUTPUT</a:t>
              </a:r>
              <a:endParaRPr sz="750" b="1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300"/>
                </a:spcBef>
                <a:spcAft>
                  <a:spcPts val="900"/>
                </a:spcAft>
                <a:buNone/>
              </a:pPr>
              <a:r>
                <a:rPr lang="en" sz="850" b="0">
                  <a:solidFill>
                    <a:srgbClr val="2B6CB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LLVM / MLIR Rewrite Code</a:t>
              </a:r>
              <a:endParaRPr sz="850" b="0">
                <a:solidFill>
                  <a:srgbClr val="2B6CB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160" name="Google Shape;160;p18"/>
          <p:cNvSpPr/>
          <p:nvPr/>
        </p:nvSpPr>
        <p:spPr>
          <a:xfrm>
            <a:off x="7429500" y="2581275"/>
            <a:ext cx="133500" cy="76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45000"/>
                </a:moveTo>
                <a:lnTo>
                  <a:pt x="68571" y="45000"/>
                </a:lnTo>
                <a:lnTo>
                  <a:pt x="68571" y="0"/>
                </a:lnTo>
                <a:lnTo>
                  <a:pt x="120000" y="60000"/>
                </a:lnTo>
                <a:lnTo>
                  <a:pt x="68571" y="120000"/>
                </a:lnTo>
                <a:lnTo>
                  <a:pt x="68571" y="75000"/>
                </a:lnTo>
                <a:lnTo>
                  <a:pt x="0" y="75000"/>
                </a:lnTo>
                <a:close/>
              </a:path>
            </a:pathLst>
          </a:custGeom>
          <a:solidFill>
            <a:srgbClr val="2B6CB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1" name="Google Shape;161;p18"/>
          <p:cNvGrpSpPr/>
          <p:nvPr/>
        </p:nvGrpSpPr>
        <p:grpSpPr>
          <a:xfrm>
            <a:off x="7581900" y="1238250"/>
            <a:ext cx="1181100" cy="2762400"/>
            <a:chOff x="0" y="0"/>
            <a:chExt cx="1181100" cy="2762400"/>
          </a:xfrm>
        </p:grpSpPr>
        <p:sp>
          <p:nvSpPr>
            <p:cNvPr id="162" name="Google Shape;162;p18"/>
            <p:cNvSpPr/>
            <p:nvPr/>
          </p:nvSpPr>
          <p:spPr>
            <a:xfrm>
              <a:off x="0" y="0"/>
              <a:ext cx="1181100" cy="2762400"/>
            </a:xfrm>
            <a:prstGeom prst="roundRect">
              <a:avLst>
                <a:gd name="adj" fmla="val 1612"/>
              </a:avLst>
            </a:prstGeom>
            <a:solidFill>
              <a:srgbClr val="2B6CB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8"/>
            <p:cNvSpPr/>
            <p:nvPr/>
          </p:nvSpPr>
          <p:spPr>
            <a:xfrm>
              <a:off x="0" y="0"/>
              <a:ext cx="1181100" cy="228600"/>
            </a:xfrm>
            <a:prstGeom prst="rect">
              <a:avLst/>
            </a:prstGeom>
            <a:solidFill>
              <a:srgbClr val="1A202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18"/>
            <p:cNvSpPr txBox="1"/>
            <p:nvPr/>
          </p:nvSpPr>
          <p:spPr>
            <a:xfrm>
              <a:off x="38100" y="38100"/>
              <a:ext cx="11049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STAGE 07</a:t>
              </a:r>
              <a:endParaRPr sz="8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5" name="Google Shape;165;p18"/>
            <p:cNvSpPr txBox="1"/>
            <p:nvPr/>
          </p:nvSpPr>
          <p:spPr>
            <a:xfrm>
              <a:off x="57150" y="323850"/>
              <a:ext cx="1066800" cy="234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Compiler Execution</a:t>
              </a:r>
              <a:endParaRPr sz="105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EDF2F7"/>
                  </a:solidFill>
                  <a:latin typeface="Inter"/>
                  <a:ea typeface="Inter"/>
                  <a:cs typeface="Inter"/>
                  <a:sym typeface="Inter"/>
                </a:rPr>
                <a:t>ACTION</a:t>
              </a:r>
              <a:endParaRPr sz="750" b="1">
                <a:solidFill>
                  <a:srgbClr val="EDF2F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Executes Rewrite Code</a:t>
              </a:r>
              <a:endParaRPr sz="850" b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EDF2F7"/>
                  </a:solidFill>
                  <a:latin typeface="Inter"/>
                  <a:ea typeface="Inter"/>
                  <a:cs typeface="Inter"/>
                  <a:sym typeface="Inter"/>
                </a:rPr>
                <a:t>FINAL TARGET</a:t>
              </a:r>
              <a:endParaRPr sz="750" b="1">
                <a:solidFill>
                  <a:srgbClr val="EDF2F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300"/>
                </a:spcBef>
                <a:spcAft>
                  <a:spcPts val="900"/>
                </a:spcAft>
                <a:buNone/>
              </a:pPr>
              <a:r>
                <a:rPr lang="en" sz="95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Optimized IR Generation</a:t>
              </a:r>
              <a:endParaRPr sz="95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66" name="Google Shape;166;p18"/>
          <p:cNvSpPr/>
          <p:nvPr/>
        </p:nvSpPr>
        <p:spPr>
          <a:xfrm>
            <a:off x="381000" y="4238625"/>
            <a:ext cx="8382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381000" y="4333875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rPr>
              <a:t>NLOpt Compiler Pipeline Architecture Overview</a:t>
            </a:r>
            <a:endParaRPr sz="900" b="1">
              <a:solidFill>
                <a:srgbClr val="718096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3" name="Google Shape;173;p19"/>
          <p:cNvGrpSpPr/>
          <p:nvPr/>
        </p:nvGrpSpPr>
        <p:grpSpPr>
          <a:xfrm>
            <a:off x="381000" y="285750"/>
            <a:ext cx="8896500" cy="571500"/>
            <a:chOff x="381000" y="285750"/>
            <a:chExt cx="8896500" cy="571500"/>
          </a:xfrm>
        </p:grpSpPr>
        <p:grpSp>
          <p:nvGrpSpPr>
            <p:cNvPr id="174" name="Google Shape;174;p19"/>
            <p:cNvGrpSpPr/>
            <p:nvPr/>
          </p:nvGrpSpPr>
          <p:grpSpPr>
            <a:xfrm>
              <a:off x="7620000" y="285750"/>
              <a:ext cx="1657500" cy="285900"/>
              <a:chOff x="0" y="0"/>
              <a:chExt cx="1657500" cy="285900"/>
            </a:xfrm>
          </p:grpSpPr>
          <p:sp>
            <p:nvSpPr>
              <p:cNvPr id="175" name="Google Shape;175;p19"/>
              <p:cNvSpPr/>
              <p:nvPr/>
            </p:nvSpPr>
            <p:spPr>
              <a:xfrm>
                <a:off x="0" y="38100"/>
                <a:ext cx="152400" cy="152400"/>
              </a:xfrm>
              <a:prstGeom prst="rect">
                <a:avLst/>
              </a:prstGeom>
              <a:solidFill>
                <a:srgbClr val="2B6CB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9"/>
              <p:cNvSpPr txBox="1"/>
              <p:nvPr/>
            </p:nvSpPr>
            <p:spPr>
              <a:xfrm>
                <a:off x="228600" y="0"/>
                <a:ext cx="1428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solidFill>
                      <a:srgbClr val="1A202C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NLOpt</a:t>
                </a:r>
                <a:endParaRPr sz="1800" b="1">
                  <a:solidFill>
                    <a:srgbClr val="1A202C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</p:txBody>
          </p:sp>
        </p:grpSp>
        <p:sp>
          <p:nvSpPr>
            <p:cNvPr id="177" name="Google Shape;177;p19"/>
            <p:cNvSpPr txBox="1"/>
            <p:nvPr/>
          </p:nvSpPr>
          <p:spPr>
            <a:xfrm>
              <a:off x="381000" y="285750"/>
              <a:ext cx="7048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lang="en" sz="1870" b="0">
                  <a:solidFill>
                    <a:srgbClr val="1A202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Translating "Addition by Zero" into an LLVM Transformation</a:t>
              </a:r>
              <a:endParaRPr sz="1870" b="0">
                <a:solidFill>
                  <a:srgbClr val="1A202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cxnSp>
          <p:nvCxnSpPr>
            <p:cNvPr id="178" name="Google Shape;178;p19"/>
            <p:cNvCxnSpPr/>
            <p:nvPr/>
          </p:nvCxnSpPr>
          <p:spPr>
            <a:xfrm>
              <a:off x="381000" y="85725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w="1905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79" name="Google Shape;179;p19"/>
          <p:cNvGrpSpPr/>
          <p:nvPr/>
        </p:nvGrpSpPr>
        <p:grpSpPr>
          <a:xfrm>
            <a:off x="381000" y="1095375"/>
            <a:ext cx="8382000" cy="3762300"/>
            <a:chOff x="381000" y="1095375"/>
            <a:chExt cx="8382000" cy="3762300"/>
          </a:xfrm>
        </p:grpSpPr>
        <p:sp>
          <p:nvSpPr>
            <p:cNvPr id="180" name="Google Shape;180;p19"/>
            <p:cNvSpPr txBox="1"/>
            <p:nvPr/>
          </p:nvSpPr>
          <p:spPr>
            <a:xfrm>
              <a:off x="381000" y="1095375"/>
              <a:ext cx="4095900" cy="376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2B6CB0"/>
                  </a:solidFill>
                  <a:highlight>
                    <a:srgbClr val="FFFFFF"/>
                  </a:highlight>
                  <a:latin typeface="Inter"/>
                  <a:ea typeface="Inter"/>
                  <a:cs typeface="Inter"/>
                  <a:sym typeface="Inter"/>
                </a:rPr>
                <a:t>Human Specification</a:t>
              </a:r>
              <a:endParaRPr sz="1100" b="1">
                <a:solidFill>
                  <a:srgbClr val="2B6CB0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400" b="0" i="1">
                  <a:solidFill>
                    <a:srgbClr val="1A202C"/>
                  </a:solidFill>
                  <a:highlight>
                    <a:srgbClr val="FFFFFF"/>
                  </a:highlight>
                  <a:latin typeface="Inter"/>
                  <a:ea typeface="Inter"/>
                  <a:cs typeface="Inter"/>
                  <a:sym typeface="Inter"/>
                </a:rPr>
                <a:t>"For an addition with zero, replace the operation with the other operand."</a:t>
              </a:r>
              <a:endParaRPr sz="1400" b="0" i="1">
                <a:solidFill>
                  <a:srgbClr val="1A202C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NLOpt AST Representation</a:t>
              </a:r>
              <a:endParaRPr sz="1100" b="1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Operation:</a:t>
              </a:r>
              <a:r>
                <a:rPr lang="en" sz="140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 ADD</a:t>
              </a:r>
              <a:endParaRPr sz="140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Condition:</a:t>
              </a:r>
              <a:r>
                <a:rPr lang="en" sz="140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" sz="1400" b="0">
                  <a:solidFill>
                    <a:srgbClr val="2B6CB0"/>
                  </a:solidFill>
                  <a:latin typeface="Fira Code"/>
                  <a:ea typeface="Fira Code"/>
                  <a:cs typeface="Fira Code"/>
                  <a:sym typeface="Fira Code"/>
                </a:rPr>
                <a:t>operand2 == 0</a:t>
              </a:r>
              <a:endParaRPr sz="140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Replacement:</a:t>
              </a:r>
              <a:r>
                <a:rPr lang="en" sz="140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" sz="1400" b="0">
                  <a:solidFill>
                    <a:srgbClr val="2B6CB0"/>
                  </a:solidFill>
                  <a:latin typeface="Fira Code"/>
                  <a:ea typeface="Fira Code"/>
                  <a:cs typeface="Fira Code"/>
                  <a:sym typeface="Fira Code"/>
                </a:rPr>
                <a:t>operand1</a:t>
              </a:r>
              <a:endParaRPr sz="140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IR Pattern Rule</a:t>
              </a:r>
              <a:endParaRPr sz="1100" b="1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lang="en" sz="1300" b="1">
                  <a:solidFill>
                    <a:srgbClr val="E53E3E"/>
                  </a:solidFill>
                  <a:latin typeface="Fira Code"/>
                  <a:ea typeface="Fira Code"/>
                  <a:cs typeface="Fira Code"/>
                  <a:sym typeface="Fira Code"/>
                </a:rPr>
                <a:t>match:</a:t>
              </a:r>
              <a:r>
                <a:rPr lang="en" sz="1300" b="0">
                  <a:solidFill>
                    <a:srgbClr val="1A202C"/>
                  </a:solidFill>
                  <a:highlight>
                    <a:srgbClr val="EDF2F7"/>
                  </a:highlight>
                  <a:latin typeface="Fira Code"/>
                  <a:ea typeface="Fira Code"/>
                  <a:cs typeface="Fira Code"/>
                  <a:sym typeface="Fira Code"/>
                </a:rPr>
                <a:t> add(x, 0)  |  </a:t>
              </a:r>
              <a:r>
                <a:rPr lang="en" sz="1300" b="1">
                  <a:solidFill>
                    <a:srgbClr val="2B6CB0"/>
                  </a:solidFill>
                  <a:highlight>
                    <a:srgbClr val="EDF2F7"/>
                  </a:highlight>
                  <a:latin typeface="Fira Code"/>
                  <a:ea typeface="Fira Code"/>
                  <a:cs typeface="Fira Code"/>
                  <a:sym typeface="Fira Code"/>
                </a:rPr>
                <a:t>replace:</a:t>
              </a:r>
              <a:r>
                <a:rPr lang="en" sz="1300" b="0">
                  <a:solidFill>
                    <a:srgbClr val="1A202C"/>
                  </a:solidFill>
                  <a:highlight>
                    <a:srgbClr val="EDF2F7"/>
                  </a:highlight>
                  <a:latin typeface="Fira Code"/>
                  <a:ea typeface="Fira Code"/>
                  <a:cs typeface="Fira Code"/>
                  <a:sym typeface="Fira Code"/>
                </a:rPr>
                <a:t> x</a:t>
              </a:r>
              <a:endParaRPr sz="1300" b="0">
                <a:solidFill>
                  <a:srgbClr val="1A202C"/>
                </a:solidFill>
                <a:highlight>
                  <a:srgbClr val="EDF2F7"/>
                </a:highlight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grpSp>
          <p:nvGrpSpPr>
            <p:cNvPr id="181" name="Google Shape;181;p19"/>
            <p:cNvGrpSpPr/>
            <p:nvPr/>
          </p:nvGrpSpPr>
          <p:grpSpPr>
            <a:xfrm>
              <a:off x="4762500" y="1095375"/>
              <a:ext cx="4000500" cy="3667200"/>
              <a:chOff x="4762500" y="1095375"/>
              <a:chExt cx="4000500" cy="3667200"/>
            </a:xfrm>
          </p:grpSpPr>
          <p:sp>
            <p:nvSpPr>
              <p:cNvPr id="182" name="Google Shape;182;p19"/>
              <p:cNvSpPr/>
              <p:nvPr/>
            </p:nvSpPr>
            <p:spPr>
              <a:xfrm>
                <a:off x="4762500" y="1095375"/>
                <a:ext cx="4000500" cy="3667200"/>
              </a:xfrm>
              <a:prstGeom prst="roundRect">
                <a:avLst>
                  <a:gd name="adj" fmla="val 1038"/>
                </a:avLst>
              </a:prstGeom>
              <a:solidFill>
                <a:srgbClr val="EDF2F7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9"/>
              <p:cNvSpPr/>
              <p:nvPr/>
            </p:nvSpPr>
            <p:spPr>
              <a:xfrm>
                <a:off x="4762500" y="1095375"/>
                <a:ext cx="4000500" cy="324000"/>
              </a:xfrm>
              <a:prstGeom prst="roundRect">
                <a:avLst>
                  <a:gd name="adj" fmla="val 11764"/>
                </a:avLst>
              </a:prstGeom>
              <a:solidFill>
                <a:srgbClr val="E2E8F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19"/>
              <p:cNvSpPr txBox="1"/>
              <p:nvPr/>
            </p:nvSpPr>
            <p:spPr>
              <a:xfrm>
                <a:off x="4914900" y="1181100"/>
                <a:ext cx="36957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1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LLVM IR Transformation</a:t>
                </a:r>
                <a:endParaRPr sz="1000" b="1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5" name="Google Shape;185;p19"/>
              <p:cNvSpPr txBox="1"/>
              <p:nvPr/>
            </p:nvSpPr>
            <p:spPr>
              <a:xfrm>
                <a:off x="4914900" y="1524000"/>
                <a:ext cx="3695700" cy="309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b="1">
                    <a:solidFill>
                      <a:srgbClr val="E53E3E"/>
                    </a:solidFill>
                    <a:latin typeface="Inter"/>
                    <a:ea typeface="Inter"/>
                    <a:cs typeface="Inter"/>
                    <a:sym typeface="Inter"/>
                  </a:rPr>
                  <a:t>// Before NLOpt</a:t>
                </a:r>
                <a:endParaRPr sz="900" b="1">
                  <a:solidFill>
                    <a:srgbClr val="E53E3E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" sz="1300" b="0">
                    <a:solidFill>
                      <a:srgbClr val="4A5568"/>
                    </a:solidFill>
                    <a:highlight>
                      <a:srgbClr val="FFFFFF"/>
                    </a:highlight>
                    <a:latin typeface="Fira Code"/>
                    <a:ea typeface="Fira Code"/>
                    <a:cs typeface="Fira Code"/>
                    <a:sym typeface="Fira Code"/>
                  </a:rPr>
                  <a:t>%t1</a:t>
                </a:r>
                <a:r>
                  <a:rPr lang="en" sz="1300" b="0">
                    <a:solidFill>
                      <a:srgbClr val="E53E3E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 = add i32 %x, 0</a:t>
                </a:r>
                <a:endParaRPr sz="1300" b="0">
                  <a:solidFill>
                    <a:srgbClr val="E53E3E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300" b="0">
                    <a:solidFill>
                      <a:srgbClr val="4A5568"/>
                    </a:solidFill>
                    <a:highlight>
                      <a:srgbClr val="FFFFFF"/>
                    </a:highlight>
                    <a:latin typeface="Fira Code"/>
                    <a:ea typeface="Fira Code"/>
                    <a:cs typeface="Fira Code"/>
                    <a:sym typeface="Fira Code"/>
                  </a:rPr>
                  <a:t>%t2</a:t>
                </a:r>
                <a:r>
                  <a:rPr lang="en" sz="1300" b="0">
                    <a:solidFill>
                      <a:srgbClr val="1A202C"/>
                    </a:solidFill>
                    <a:highlight>
                      <a:srgbClr val="FFFFFF"/>
                    </a:highlight>
                    <a:latin typeface="Fira Code"/>
                    <a:ea typeface="Fira Code"/>
                    <a:cs typeface="Fira Code"/>
                    <a:sym typeface="Fira Code"/>
                  </a:rPr>
                  <a:t> = mul i32 %t1, 4</a:t>
                </a:r>
                <a:endParaRPr sz="1300" b="0">
                  <a:solidFill>
                    <a:srgbClr val="1A202C"/>
                  </a:solidFill>
                  <a:highlight>
                    <a:srgbClr val="FFFFFF"/>
                  </a:highlight>
                  <a:latin typeface="Fira Code"/>
                  <a:ea typeface="Fira Code"/>
                  <a:cs typeface="Fira Code"/>
                  <a:sym typeface="Fira Code"/>
                </a:endParaRPr>
              </a:p>
              <a:p>
                <a:pPr marL="0" lvl="0" indent="0" algn="ctr" rtl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solidFill>
                      <a:srgbClr val="2B6CB0"/>
                    </a:solidFill>
                    <a:latin typeface="Inter"/>
                    <a:ea typeface="Inter"/>
                    <a:cs typeface="Inter"/>
                    <a:sym typeface="Inter"/>
                  </a:rPr>
                  <a:t>↓ Optimization Pass ↓</a:t>
                </a:r>
                <a:endParaRPr/>
              </a:p>
              <a:p>
                <a:pPr marL="0" lvl="0" indent="0" algn="l" rtl="0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lang="en" sz="900" b="1">
                    <a:solidFill>
                      <a:srgbClr val="2B6CB0"/>
                    </a:solidFill>
                    <a:latin typeface="Inter"/>
                    <a:ea typeface="Inter"/>
                    <a:cs typeface="Inter"/>
                    <a:sym typeface="Inter"/>
                  </a:rPr>
                  <a:t>// After NLOpt</a:t>
                </a:r>
                <a:endParaRPr sz="900" b="1">
                  <a:solidFill>
                    <a:srgbClr val="2B6CB0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450"/>
                  </a:spcBef>
                  <a:spcAft>
                    <a:spcPts val="600"/>
                  </a:spcAft>
                  <a:buNone/>
                </a:pPr>
                <a:r>
                  <a:rPr lang="en" sz="1300" b="0">
                    <a:solidFill>
                      <a:srgbClr val="4A5568"/>
                    </a:solidFill>
                    <a:highlight>
                      <a:srgbClr val="FFFFFF"/>
                    </a:highlight>
                    <a:latin typeface="Fira Code"/>
                    <a:ea typeface="Fira Code"/>
                    <a:cs typeface="Fira Code"/>
                    <a:sym typeface="Fira Code"/>
                  </a:rPr>
                  <a:t>%t2</a:t>
                </a:r>
                <a:r>
                  <a:rPr lang="en" sz="1300" b="0">
                    <a:solidFill>
                      <a:srgbClr val="2B6CB0"/>
                    </a:solidFill>
                    <a:highlight>
                      <a:srgbClr val="FFFFFF"/>
                    </a:highlight>
                    <a:latin typeface="Fira Code"/>
                    <a:ea typeface="Fira Code"/>
                    <a:cs typeface="Fira Code"/>
                    <a:sym typeface="Fira Code"/>
                  </a:rPr>
                  <a:t> = mul i32 %x, 4</a:t>
                </a:r>
                <a:endParaRPr sz="1300" b="0">
                  <a:solidFill>
                    <a:srgbClr val="2B6CB0"/>
                  </a:solidFill>
                  <a:highlight>
                    <a:srgbClr val="FFFFFF"/>
                  </a:highlight>
                  <a:latin typeface="Fira Code"/>
                  <a:ea typeface="Fira Code"/>
                  <a:cs typeface="Fira Code"/>
                  <a:sym typeface="Fira Code"/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1" name="Google Shape;191;p20"/>
          <p:cNvGrpSpPr/>
          <p:nvPr/>
        </p:nvGrpSpPr>
        <p:grpSpPr>
          <a:xfrm>
            <a:off x="7620000" y="285750"/>
            <a:ext cx="1657500" cy="285900"/>
            <a:chOff x="0" y="0"/>
            <a:chExt cx="1657500" cy="285900"/>
          </a:xfrm>
        </p:grpSpPr>
        <p:sp>
          <p:nvSpPr>
            <p:cNvPr id="192" name="Google Shape;192;p20"/>
            <p:cNvSpPr/>
            <p:nvPr/>
          </p:nvSpPr>
          <p:spPr>
            <a:xfrm>
              <a:off x="0" y="38100"/>
              <a:ext cx="152400" cy="152400"/>
            </a:xfrm>
            <a:prstGeom prst="rect">
              <a:avLst/>
            </a:prstGeom>
            <a:solidFill>
              <a:srgbClr val="2B6CB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0"/>
            <p:cNvSpPr txBox="1"/>
            <p:nvPr/>
          </p:nvSpPr>
          <p:spPr>
            <a:xfrm>
              <a:off x="228600" y="0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rgbClr val="1A202C"/>
                  </a:solidFill>
                  <a:latin typeface="Fira Code"/>
                  <a:ea typeface="Fira Code"/>
                  <a:cs typeface="Fira Code"/>
                  <a:sym typeface="Fira Code"/>
                </a:rPr>
                <a:t>NLOpt</a:t>
              </a:r>
              <a:endParaRPr sz="1800" b="1">
                <a:solidFill>
                  <a:srgbClr val="1A202C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194" name="Google Shape;194;p20"/>
          <p:cNvSpPr txBox="1"/>
          <p:nvPr/>
        </p:nvSpPr>
        <p:spPr>
          <a:xfrm>
            <a:off x="381000" y="285750"/>
            <a:ext cx="7048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900"/>
              </a:spcAft>
              <a:buNone/>
            </a:pPr>
            <a:r>
              <a:rPr lang="en" sz="1870" b="0">
                <a:solidFill>
                  <a:srgbClr val="1A202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Structuring Natural Language into Machine-Processable Instructions</a:t>
            </a:r>
            <a:endParaRPr sz="1870" b="0">
              <a:solidFill>
                <a:srgbClr val="1A202C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cxnSp>
        <p:nvCxnSpPr>
          <p:cNvPr id="195" name="Google Shape;195;p20"/>
          <p:cNvCxnSpPr/>
          <p:nvPr/>
        </p:nvCxnSpPr>
        <p:spPr>
          <a:xfrm>
            <a:off x="381000" y="857250"/>
            <a:ext cx="8382000" cy="0"/>
          </a:xfrm>
          <a:prstGeom prst="straightConnector1">
            <a:avLst/>
          </a:prstGeom>
          <a:solidFill>
            <a:srgbClr val="FFFFFF"/>
          </a:solidFill>
          <a:ln w="190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6" name="Google Shape;196;p20"/>
          <p:cNvSpPr txBox="1"/>
          <p:nvPr/>
        </p:nvSpPr>
        <p:spPr>
          <a:xfrm>
            <a:off x="381000" y="1000125"/>
            <a:ext cx="83820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900"/>
              </a:spcAft>
              <a:buNone/>
            </a:pPr>
            <a:r>
              <a:rPr lang="en" sz="1500" b="0">
                <a:solidFill>
                  <a:srgbClr val="2B6CB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After parsing, the NLOpt sentence converts into a structured rule object.</a:t>
            </a:r>
            <a:endParaRPr sz="1500" b="0">
              <a:solidFill>
                <a:srgbClr val="2B6CB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197" name="Google Shape;197;p20"/>
          <p:cNvGrpSpPr/>
          <p:nvPr/>
        </p:nvGrpSpPr>
        <p:grpSpPr>
          <a:xfrm>
            <a:off x="381000" y="1428750"/>
            <a:ext cx="4000500" cy="3238500"/>
            <a:chOff x="381000" y="1428750"/>
            <a:chExt cx="4000500" cy="3238500"/>
          </a:xfrm>
        </p:grpSpPr>
        <p:sp>
          <p:nvSpPr>
            <p:cNvPr id="198" name="Google Shape;198;p20"/>
            <p:cNvSpPr/>
            <p:nvPr/>
          </p:nvSpPr>
          <p:spPr>
            <a:xfrm>
              <a:off x="381000" y="1428750"/>
              <a:ext cx="4000500" cy="3238500"/>
            </a:xfrm>
            <a:prstGeom prst="roundRect">
              <a:avLst>
                <a:gd name="adj" fmla="val 1176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0"/>
            <p:cNvSpPr/>
            <p:nvPr/>
          </p:nvSpPr>
          <p:spPr>
            <a:xfrm>
              <a:off x="381000" y="1428750"/>
              <a:ext cx="4000500" cy="57300"/>
            </a:xfrm>
            <a:prstGeom prst="rect">
              <a:avLst/>
            </a:prstGeom>
            <a:solidFill>
              <a:srgbClr val="2B6CB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0"/>
            <p:cNvSpPr txBox="1"/>
            <p:nvPr/>
          </p:nvSpPr>
          <p:spPr>
            <a:xfrm>
              <a:off x="571500" y="1619250"/>
              <a:ext cx="36195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rgbClr val="2B6CB0"/>
                  </a:solidFill>
                  <a:latin typeface="Inter"/>
                  <a:ea typeface="Inter"/>
                  <a:cs typeface="Inter"/>
                  <a:sym typeface="Inter"/>
                </a:rPr>
                <a:t>AST Node Representation</a:t>
              </a:r>
              <a:endParaRPr sz="1800" b="1">
                <a:solidFill>
                  <a:srgbClr val="2B6CB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400" b="0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Identifies core syntactical components from parsed input:</a:t>
              </a:r>
              <a:endParaRPr sz="1400" b="0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17500" algn="l" rtl="0">
                <a:spcBef>
                  <a:spcPts val="1200"/>
                </a:spcBef>
                <a:spcAft>
                  <a:spcPts val="0"/>
                </a:spcAft>
                <a:buSzPts val="1400"/>
                <a:buChar char="●"/>
              </a:pPr>
              <a:r>
                <a:rPr lang="en" sz="1500" b="1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Operation:</a:t>
              </a:r>
              <a:r>
                <a:rPr lang="en" sz="150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 Identifies the specific operation (e.g., ADD).</a:t>
              </a:r>
              <a:endParaRPr sz="150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17500" algn="l" rtl="0">
                <a:spcBef>
                  <a:spcPts val="900"/>
                </a:spcBef>
                <a:spcAft>
                  <a:spcPts val="0"/>
                </a:spcAft>
                <a:buSzPts val="1400"/>
                <a:buChar char="●"/>
              </a:pPr>
              <a:r>
                <a:rPr lang="en" sz="1500" b="1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Operands:</a:t>
              </a:r>
              <a:r>
                <a:rPr lang="en" sz="150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 Specifies input variables and terms.</a:t>
              </a:r>
              <a:endParaRPr sz="150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17500" algn="l" rtl="0">
                <a:spcBef>
                  <a:spcPts val="900"/>
                </a:spcBef>
                <a:spcAft>
                  <a:spcPts val="1200"/>
                </a:spcAft>
                <a:buSzPts val="1400"/>
                <a:buChar char="●"/>
              </a:pPr>
              <a:r>
                <a:rPr lang="en" sz="1500" b="1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Constraints:</a:t>
              </a:r>
              <a:r>
                <a:rPr lang="en" sz="150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 Defines limitations (e.g., constant value).</a:t>
              </a:r>
              <a:endParaRPr sz="150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1" name="Google Shape;201;p20"/>
          <p:cNvGrpSpPr/>
          <p:nvPr/>
        </p:nvGrpSpPr>
        <p:grpSpPr>
          <a:xfrm>
            <a:off x="4762500" y="1428750"/>
            <a:ext cx="4000500" cy="3238500"/>
            <a:chOff x="4762500" y="1428750"/>
            <a:chExt cx="4000500" cy="3238500"/>
          </a:xfrm>
        </p:grpSpPr>
        <p:sp>
          <p:nvSpPr>
            <p:cNvPr id="202" name="Google Shape;202;p20"/>
            <p:cNvSpPr/>
            <p:nvPr/>
          </p:nvSpPr>
          <p:spPr>
            <a:xfrm>
              <a:off x="4762500" y="1428750"/>
              <a:ext cx="4000500" cy="3238500"/>
            </a:xfrm>
            <a:prstGeom prst="roundRect">
              <a:avLst>
                <a:gd name="adj" fmla="val 1176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0"/>
            <p:cNvSpPr/>
            <p:nvPr/>
          </p:nvSpPr>
          <p:spPr>
            <a:xfrm>
              <a:off x="4762500" y="1428750"/>
              <a:ext cx="4000500" cy="57300"/>
            </a:xfrm>
            <a:prstGeom prst="rect">
              <a:avLst/>
            </a:prstGeom>
            <a:solidFill>
              <a:srgbClr val="1A202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0"/>
            <p:cNvSpPr txBox="1"/>
            <p:nvPr/>
          </p:nvSpPr>
          <p:spPr>
            <a:xfrm>
              <a:off x="4953000" y="1619250"/>
              <a:ext cx="36195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Rule IR Structure</a:t>
              </a:r>
              <a:endParaRPr sz="1800" b="1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2B6CB0"/>
                  </a:solidFill>
                  <a:latin typeface="Fira Code"/>
                  <a:ea typeface="Fira Code"/>
                  <a:cs typeface="Fira Code"/>
                  <a:sym typeface="Fira Code"/>
                </a:rPr>
                <a:t>match_operation:</a:t>
              </a:r>
              <a:br>
                <a:rPr lang="en" sz="1300">
                  <a:solidFill>
                    <a:srgbClr val="4A5568"/>
                  </a:solidFill>
                  <a:latin typeface="Fira Code"/>
                  <a:ea typeface="Fira Code"/>
                  <a:cs typeface="Fira Code"/>
                  <a:sym typeface="Fira Code"/>
                </a:rPr>
              </a:br>
              <a:r>
                <a:rPr lang="en" sz="1200">
                  <a:solidFill>
                    <a:srgbClr val="1A202C"/>
                  </a:solidFill>
                  <a:latin typeface="Fira Code"/>
                  <a:ea typeface="Fira Code"/>
                  <a:cs typeface="Fira Code"/>
                  <a:sym typeface="Fira Code"/>
                </a:rPr>
                <a:t>Identifies the IR operation to search for.</a:t>
              </a:r>
              <a:endParaRPr sz="1300">
                <a:solidFill>
                  <a:srgbClr val="4A5568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2B6CB0"/>
                  </a:solidFill>
                  <a:latin typeface="Fira Code"/>
                  <a:ea typeface="Fira Code"/>
                  <a:cs typeface="Fira Code"/>
                  <a:sym typeface="Fira Code"/>
                </a:rPr>
                <a:t>operands:</a:t>
              </a:r>
              <a:br>
                <a:rPr lang="en" sz="1300">
                  <a:solidFill>
                    <a:srgbClr val="4A5568"/>
                  </a:solidFill>
                  <a:latin typeface="Fira Code"/>
                  <a:ea typeface="Fira Code"/>
                  <a:cs typeface="Fira Code"/>
                  <a:sym typeface="Fira Code"/>
                </a:rPr>
              </a:br>
              <a:r>
                <a:rPr lang="en" sz="1200">
                  <a:solidFill>
                    <a:srgbClr val="1A202C"/>
                  </a:solidFill>
                  <a:latin typeface="Fira Code"/>
                  <a:ea typeface="Fira Code"/>
                  <a:cs typeface="Fira Code"/>
                  <a:sym typeface="Fira Code"/>
                </a:rPr>
                <a:t>Defines the operand pattern.</a:t>
              </a:r>
              <a:endParaRPr sz="1300">
                <a:solidFill>
                  <a:srgbClr val="4A5568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2B6CB0"/>
                  </a:solidFill>
                  <a:latin typeface="Fira Code"/>
                  <a:ea typeface="Fira Code"/>
                  <a:cs typeface="Fira Code"/>
                  <a:sym typeface="Fira Code"/>
                </a:rPr>
                <a:t>replacement:</a:t>
              </a:r>
              <a:br>
                <a:rPr lang="en" sz="1300">
                  <a:solidFill>
                    <a:srgbClr val="4A5568"/>
                  </a:solidFill>
                  <a:latin typeface="Fira Code"/>
                  <a:ea typeface="Fira Code"/>
                  <a:cs typeface="Fira Code"/>
                  <a:sym typeface="Fira Code"/>
                </a:rPr>
              </a:br>
              <a:r>
                <a:rPr lang="en" sz="1200">
                  <a:solidFill>
                    <a:srgbClr val="1A202C"/>
                  </a:solidFill>
                  <a:latin typeface="Fira Code"/>
                  <a:ea typeface="Fira Code"/>
                  <a:cs typeface="Fira Code"/>
                  <a:sym typeface="Fira Code"/>
                </a:rPr>
                <a:t>Defines the resulting IR expression.</a:t>
              </a:r>
              <a:endParaRPr sz="1300">
                <a:solidFill>
                  <a:srgbClr val="4A5568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1200"/>
                </a:spcAft>
                <a:buNone/>
              </a:pPr>
              <a:r>
                <a:rPr lang="en" sz="1300" b="1">
                  <a:solidFill>
                    <a:srgbClr val="E53E3E"/>
                  </a:solidFill>
                  <a:latin typeface="Fira Code"/>
                  <a:ea typeface="Fira Code"/>
                  <a:cs typeface="Fira Code"/>
                  <a:sym typeface="Fira Code"/>
                </a:rPr>
                <a:t>safety:</a:t>
              </a:r>
              <a:br>
                <a:rPr lang="en" sz="1300">
                  <a:solidFill>
                    <a:srgbClr val="4A5568"/>
                  </a:solidFill>
                  <a:latin typeface="Fira Code"/>
                  <a:ea typeface="Fira Code"/>
                  <a:cs typeface="Fira Code"/>
                  <a:sym typeface="Fira Code"/>
                </a:rPr>
              </a:br>
              <a:r>
                <a:rPr lang="en" sz="1200">
                  <a:solidFill>
                    <a:srgbClr val="1A202C"/>
                  </a:solidFill>
                  <a:latin typeface="Fira Code"/>
                  <a:ea typeface="Fira Code"/>
                  <a:cs typeface="Fira Code"/>
                  <a:sym typeface="Fira Code"/>
                </a:rPr>
                <a:t>Records whether the transformation is unconditional or condition-dependent.</a:t>
              </a:r>
              <a:endParaRPr sz="1300">
                <a:solidFill>
                  <a:srgbClr val="4A5568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0" name="Google Shape;210;p21"/>
          <p:cNvGrpSpPr/>
          <p:nvPr/>
        </p:nvGrpSpPr>
        <p:grpSpPr>
          <a:xfrm>
            <a:off x="0" y="0"/>
            <a:ext cx="9277500" cy="5143500"/>
            <a:chOff x="0" y="0"/>
            <a:chExt cx="9277500" cy="5143500"/>
          </a:xfrm>
        </p:grpSpPr>
        <p:sp>
          <p:nvSpPr>
            <p:cNvPr id="211" name="Google Shape;211;p21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2" name="Google Shape;212;p21"/>
            <p:cNvGrpSpPr/>
            <p:nvPr/>
          </p:nvGrpSpPr>
          <p:grpSpPr>
            <a:xfrm>
              <a:off x="7620000" y="285750"/>
              <a:ext cx="1657500" cy="285900"/>
              <a:chOff x="0" y="0"/>
              <a:chExt cx="1657500" cy="285900"/>
            </a:xfrm>
          </p:grpSpPr>
          <p:sp>
            <p:nvSpPr>
              <p:cNvPr id="213" name="Google Shape;213;p21"/>
              <p:cNvSpPr/>
              <p:nvPr/>
            </p:nvSpPr>
            <p:spPr>
              <a:xfrm>
                <a:off x="0" y="38100"/>
                <a:ext cx="152400" cy="152400"/>
              </a:xfrm>
              <a:prstGeom prst="rect">
                <a:avLst/>
              </a:prstGeom>
              <a:solidFill>
                <a:srgbClr val="2B6CB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21"/>
              <p:cNvSpPr txBox="1"/>
              <p:nvPr/>
            </p:nvSpPr>
            <p:spPr>
              <a:xfrm>
                <a:off x="228600" y="0"/>
                <a:ext cx="1428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solidFill>
                      <a:srgbClr val="1A202C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NLOpt</a:t>
                </a:r>
                <a:endParaRPr sz="1800" b="1">
                  <a:solidFill>
                    <a:srgbClr val="1A202C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</p:txBody>
          </p:sp>
        </p:grpSp>
        <p:sp>
          <p:nvSpPr>
            <p:cNvPr id="215" name="Google Shape;215;p21"/>
            <p:cNvSpPr txBox="1"/>
            <p:nvPr/>
          </p:nvSpPr>
          <p:spPr>
            <a:xfrm>
              <a:off x="381000" y="285750"/>
              <a:ext cx="7048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lang="en" sz="1705" b="0">
                  <a:solidFill>
                    <a:srgbClr val="1A202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Semantic Validation Prevents Unsafe Compiler Transformations</a:t>
              </a:r>
              <a:endParaRPr sz="1705" b="0">
                <a:solidFill>
                  <a:srgbClr val="1A202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cxnSp>
          <p:nvCxnSpPr>
            <p:cNvPr id="216" name="Google Shape;216;p21"/>
            <p:cNvCxnSpPr/>
            <p:nvPr/>
          </p:nvCxnSpPr>
          <p:spPr>
            <a:xfrm>
              <a:off x="381000" y="85725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w="1905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17" name="Google Shape;217;p21"/>
          <p:cNvGrpSpPr/>
          <p:nvPr/>
        </p:nvGrpSpPr>
        <p:grpSpPr>
          <a:xfrm>
            <a:off x="381000" y="1047750"/>
            <a:ext cx="8382000" cy="1238400"/>
            <a:chOff x="381000" y="0"/>
            <a:chExt cx="8382000" cy="1238400"/>
          </a:xfrm>
        </p:grpSpPr>
        <p:sp>
          <p:nvSpPr>
            <p:cNvPr id="218" name="Google Shape;218;p21"/>
            <p:cNvSpPr/>
            <p:nvPr/>
          </p:nvSpPr>
          <p:spPr>
            <a:xfrm>
              <a:off x="381000" y="0"/>
              <a:ext cx="8382000" cy="1238400"/>
            </a:xfrm>
            <a:prstGeom prst="rect">
              <a:avLst/>
            </a:prstGeom>
            <a:solidFill>
              <a:srgbClr val="FFF5F5"/>
            </a:solidFill>
            <a:ln w="9525" cap="flat" cmpd="sng">
              <a:solidFill>
                <a:srgbClr val="FC818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1"/>
            <p:cNvSpPr/>
            <p:nvPr/>
          </p:nvSpPr>
          <p:spPr>
            <a:xfrm>
              <a:off x="381000" y="0"/>
              <a:ext cx="76200" cy="1238400"/>
            </a:xfrm>
            <a:prstGeom prst="rect">
              <a:avLst/>
            </a:prstGeom>
            <a:solidFill>
              <a:srgbClr val="E53E3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1"/>
            <p:cNvSpPr txBox="1"/>
            <p:nvPr/>
          </p:nvSpPr>
          <p:spPr>
            <a:xfrm>
              <a:off x="609600" y="152400"/>
              <a:ext cx="79248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65" b="1">
                  <a:solidFill>
                    <a:srgbClr val="C53030"/>
                  </a:solidFill>
                  <a:latin typeface="Inter"/>
                  <a:ea typeface="Inter"/>
                  <a:cs typeface="Inter"/>
                  <a:sym typeface="Inter"/>
                </a:rPr>
                <a:t>A syntactically valid rule must also preserve program semantics to be safe.</a:t>
              </a:r>
              <a:endParaRPr sz="1665" b="1">
                <a:solidFill>
                  <a:srgbClr val="C5303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900"/>
                </a:spcAft>
                <a:buNone/>
              </a:pPr>
              <a:r>
                <a:rPr lang="en" sz="1388" b="1">
                  <a:solidFill>
                    <a:srgbClr val="C53030"/>
                  </a:solidFill>
                  <a:latin typeface="Inter"/>
                  <a:ea typeface="Inter"/>
                  <a:cs typeface="Inter"/>
                  <a:sym typeface="Inter"/>
                </a:rPr>
                <a:t>Hazard Example:</a:t>
              </a:r>
              <a:r>
                <a:rPr lang="en" sz="1388" b="0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 The rule </a:t>
              </a:r>
              <a:r>
                <a:rPr lang="en" sz="1388" b="1">
                  <a:solidFill>
                    <a:srgbClr val="2D3748"/>
                  </a:solidFill>
                  <a:highlight>
                    <a:srgbClr val="EDF2F7"/>
                  </a:highlight>
                  <a:latin typeface="Fira Code"/>
                  <a:ea typeface="Fira Code"/>
                  <a:cs typeface="Fira Code"/>
                  <a:sym typeface="Fira Code"/>
                </a:rPr>
                <a:t>x / x -&gt; 1</a:t>
              </a:r>
              <a:r>
                <a:rPr lang="en" sz="1388" b="0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 is grammatically valid but semantically unsafe if </a:t>
              </a:r>
              <a:r>
                <a:rPr lang="en" sz="1388" b="1">
                  <a:solidFill>
                    <a:srgbClr val="2D3748"/>
                  </a:solidFill>
                  <a:latin typeface="Fira Code"/>
                  <a:ea typeface="Fira Code"/>
                  <a:cs typeface="Fira Code"/>
                  <a:sym typeface="Fira Code"/>
                </a:rPr>
                <a:t>x</a:t>
              </a:r>
              <a:r>
                <a:rPr lang="en" sz="1388" b="0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 is zero. It must be rejected unless a non-zero condition is available.</a:t>
              </a:r>
              <a:endParaRPr sz="1388" b="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1" name="Google Shape;221;p21"/>
          <p:cNvGrpSpPr/>
          <p:nvPr/>
        </p:nvGrpSpPr>
        <p:grpSpPr>
          <a:xfrm>
            <a:off x="381000" y="2476500"/>
            <a:ext cx="8382000" cy="2333625"/>
            <a:chOff x="381000" y="0"/>
            <a:chExt cx="8382000" cy="2333625"/>
          </a:xfrm>
        </p:grpSpPr>
        <p:sp>
          <p:nvSpPr>
            <p:cNvPr id="222" name="Google Shape;222;p21"/>
            <p:cNvSpPr txBox="1"/>
            <p:nvPr/>
          </p:nvSpPr>
          <p:spPr>
            <a:xfrm>
              <a:off x="381000" y="0"/>
              <a:ext cx="838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2B6CB0"/>
                  </a:solidFill>
                  <a:latin typeface="Inter"/>
                  <a:ea typeface="Inter"/>
                  <a:cs typeface="Inter"/>
                  <a:sym typeface="Inter"/>
                </a:rPr>
                <a:t>Required Semantic Safety Validation Checks</a:t>
              </a:r>
              <a:endParaRPr sz="1200" b="1">
                <a:solidFill>
                  <a:srgbClr val="2B6CB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23" name="Google Shape;223;p21"/>
            <p:cNvGrpSpPr/>
            <p:nvPr/>
          </p:nvGrpSpPr>
          <p:grpSpPr>
            <a:xfrm>
              <a:off x="381000" y="333375"/>
              <a:ext cx="8382000" cy="666900"/>
              <a:chOff x="0" y="0"/>
              <a:chExt cx="8382000" cy="666900"/>
            </a:xfrm>
          </p:grpSpPr>
          <p:sp>
            <p:nvSpPr>
              <p:cNvPr id="224" name="Google Shape;224;p21"/>
              <p:cNvSpPr/>
              <p:nvPr/>
            </p:nvSpPr>
            <p:spPr>
              <a:xfrm>
                <a:off x="0" y="0"/>
                <a:ext cx="8382000" cy="6669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21"/>
              <p:cNvSpPr/>
              <p:nvPr/>
            </p:nvSpPr>
            <p:spPr>
              <a:xfrm>
                <a:off x="0" y="0"/>
                <a:ext cx="38100" cy="666900"/>
              </a:xfrm>
              <a:prstGeom prst="rect">
                <a:avLst/>
              </a:prstGeom>
              <a:solidFill>
                <a:srgbClr val="2B6CB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21"/>
              <p:cNvSpPr txBox="1"/>
              <p:nvPr/>
            </p:nvSpPr>
            <p:spPr>
              <a:xfrm>
                <a:off x="190500" y="114300"/>
                <a:ext cx="80010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50" b="1">
                    <a:solidFill>
                      <a:srgbClr val="1A202C"/>
                    </a:solidFill>
                    <a:latin typeface="Inter"/>
                    <a:ea typeface="Inter"/>
                    <a:cs typeface="Inter"/>
                    <a:sym typeface="Inter"/>
                  </a:rPr>
                  <a:t>Division by Zero</a:t>
                </a:r>
                <a:endParaRPr sz="1050" b="1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900"/>
                  </a:spcAft>
                  <a:buNone/>
                </a:pPr>
                <a:r>
                  <a:rPr lang="en" sz="910" b="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The rule </a:t>
                </a:r>
                <a:r>
                  <a:rPr lang="en" sz="910" b="0">
                    <a:solidFill>
                      <a:srgbClr val="4A5568"/>
                    </a:solidFill>
                    <a:latin typeface="Fira Code SemiBold"/>
                    <a:ea typeface="Fira Code SemiBold"/>
                    <a:cs typeface="Fira Code SemiBold"/>
                    <a:sym typeface="Fira Code SemiBold"/>
                  </a:rPr>
                  <a:t>x / x -&gt; 1</a:t>
                </a:r>
                <a:r>
                  <a:rPr lang="en" sz="910" b="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 is grammatically valid but semantically unsafe if x is zero. It must be rejected unless a non-zero condition is available.</a:t>
                </a:r>
                <a:endParaRPr sz="91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27" name="Google Shape;227;p21"/>
            <p:cNvGrpSpPr/>
            <p:nvPr/>
          </p:nvGrpSpPr>
          <p:grpSpPr>
            <a:xfrm>
              <a:off x="381000" y="1095375"/>
              <a:ext cx="8382000" cy="571500"/>
              <a:chOff x="0" y="0"/>
              <a:chExt cx="8382000" cy="571500"/>
            </a:xfrm>
          </p:grpSpPr>
          <p:sp>
            <p:nvSpPr>
              <p:cNvPr id="228" name="Google Shape;228;p21"/>
              <p:cNvSpPr/>
              <p:nvPr/>
            </p:nvSpPr>
            <p:spPr>
              <a:xfrm>
                <a:off x="0" y="0"/>
                <a:ext cx="8382000" cy="5715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21"/>
              <p:cNvSpPr/>
              <p:nvPr/>
            </p:nvSpPr>
            <p:spPr>
              <a:xfrm>
                <a:off x="0" y="0"/>
                <a:ext cx="38100" cy="571500"/>
              </a:xfrm>
              <a:prstGeom prst="rect">
                <a:avLst/>
              </a:prstGeom>
              <a:solidFill>
                <a:srgbClr val="2B6CB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21"/>
              <p:cNvSpPr txBox="1"/>
              <p:nvPr/>
            </p:nvSpPr>
            <p:spPr>
              <a:xfrm>
                <a:off x="190500" y="114300"/>
                <a:ext cx="80010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63" b="1">
                    <a:solidFill>
                      <a:srgbClr val="1A202C"/>
                    </a:solidFill>
                    <a:latin typeface="Inter"/>
                    <a:ea typeface="Inter"/>
                    <a:cs typeface="Inter"/>
                    <a:sym typeface="Inter"/>
                  </a:rPr>
                  <a:t>Type Checks</a:t>
                </a:r>
                <a:endParaRPr sz="1163" b="1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900"/>
                  </a:spcAft>
                  <a:buNone/>
                </a:pPr>
                <a:r>
                  <a:rPr lang="en" sz="1008" b="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Integer-only rules cannot be applied to unsupported floating-point semantics.</a:t>
                </a:r>
                <a:endParaRPr sz="1008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31" name="Google Shape;231;p21"/>
            <p:cNvGrpSpPr/>
            <p:nvPr/>
          </p:nvGrpSpPr>
          <p:grpSpPr>
            <a:xfrm>
              <a:off x="381000" y="1762125"/>
              <a:ext cx="8382000" cy="571500"/>
              <a:chOff x="0" y="0"/>
              <a:chExt cx="8382000" cy="571500"/>
            </a:xfrm>
          </p:grpSpPr>
          <p:sp>
            <p:nvSpPr>
              <p:cNvPr id="232" name="Google Shape;232;p21"/>
              <p:cNvSpPr/>
              <p:nvPr/>
            </p:nvSpPr>
            <p:spPr>
              <a:xfrm>
                <a:off x="0" y="0"/>
                <a:ext cx="8382000" cy="5715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21"/>
              <p:cNvSpPr/>
              <p:nvPr/>
            </p:nvSpPr>
            <p:spPr>
              <a:xfrm>
                <a:off x="0" y="0"/>
                <a:ext cx="38100" cy="571500"/>
              </a:xfrm>
              <a:prstGeom prst="rect">
                <a:avLst/>
              </a:prstGeom>
              <a:solidFill>
                <a:srgbClr val="2B6CB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21"/>
              <p:cNvSpPr txBox="1"/>
              <p:nvPr/>
            </p:nvSpPr>
            <p:spPr>
              <a:xfrm>
                <a:off x="190500" y="114300"/>
                <a:ext cx="80010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63" b="1">
                    <a:solidFill>
                      <a:srgbClr val="1A202C"/>
                    </a:solidFill>
                    <a:latin typeface="Inter"/>
                    <a:ea typeface="Inter"/>
                    <a:cs typeface="Inter"/>
                    <a:sym typeface="Inter"/>
                  </a:rPr>
                  <a:t>Side Effects</a:t>
                </a:r>
                <a:endParaRPr sz="1163" b="1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900"/>
                  </a:spcAft>
                  <a:buNone/>
                </a:pPr>
                <a:r>
                  <a:rPr lang="en" sz="1008" b="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Expressions performing observable I/O or memory effects cannot be safely removed.</a:t>
                </a:r>
                <a:endParaRPr sz="1008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0" name="Google Shape;240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1" name="Google Shape;241;p22"/>
          <p:cNvGrpSpPr/>
          <p:nvPr/>
        </p:nvGrpSpPr>
        <p:grpSpPr>
          <a:xfrm>
            <a:off x="7620000" y="285750"/>
            <a:ext cx="1657500" cy="285900"/>
            <a:chOff x="0" y="0"/>
            <a:chExt cx="1657500" cy="285900"/>
          </a:xfrm>
        </p:grpSpPr>
        <p:sp>
          <p:nvSpPr>
            <p:cNvPr id="242" name="Google Shape;242;p22"/>
            <p:cNvSpPr/>
            <p:nvPr/>
          </p:nvSpPr>
          <p:spPr>
            <a:xfrm>
              <a:off x="0" y="38100"/>
              <a:ext cx="152400" cy="152400"/>
            </a:xfrm>
            <a:prstGeom prst="rect">
              <a:avLst/>
            </a:prstGeom>
            <a:solidFill>
              <a:srgbClr val="2B6CB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2"/>
            <p:cNvSpPr txBox="1"/>
            <p:nvPr/>
          </p:nvSpPr>
          <p:spPr>
            <a:xfrm>
              <a:off x="228600" y="0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rgbClr val="1A202C"/>
                  </a:solidFill>
                  <a:latin typeface="Fira Code"/>
                  <a:ea typeface="Fira Code"/>
                  <a:cs typeface="Fira Code"/>
                  <a:sym typeface="Fira Code"/>
                </a:rPr>
                <a:t>NLOpt</a:t>
              </a:r>
              <a:endParaRPr sz="1800" b="1">
                <a:solidFill>
                  <a:srgbClr val="1A202C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244" name="Google Shape;244;p22"/>
          <p:cNvSpPr txBox="1"/>
          <p:nvPr/>
        </p:nvSpPr>
        <p:spPr>
          <a:xfrm>
            <a:off x="381000" y="238125"/>
            <a:ext cx="7048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900"/>
              </a:spcAft>
              <a:buNone/>
            </a:pPr>
            <a:r>
              <a:rPr lang="en" sz="1870" b="0">
                <a:solidFill>
                  <a:srgbClr val="1A202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Initial Minimum Viable Project Targets Fundamental Optimizations</a:t>
            </a:r>
            <a:endParaRPr sz="1870" b="0">
              <a:solidFill>
                <a:srgbClr val="1A202C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cxnSp>
        <p:nvCxnSpPr>
          <p:cNvPr id="245" name="Google Shape;245;p22"/>
          <p:cNvCxnSpPr/>
          <p:nvPr/>
        </p:nvCxnSpPr>
        <p:spPr>
          <a:xfrm>
            <a:off x="381000" y="809625"/>
            <a:ext cx="8382000" cy="0"/>
          </a:xfrm>
          <a:prstGeom prst="straightConnector1">
            <a:avLst/>
          </a:prstGeom>
          <a:solidFill>
            <a:srgbClr val="FFFFFF"/>
          </a:solidFill>
          <a:ln w="190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6" name="Google Shape;246;p22"/>
          <p:cNvSpPr txBox="1"/>
          <p:nvPr/>
        </p:nvSpPr>
        <p:spPr>
          <a:xfrm>
            <a:off x="381000" y="952500"/>
            <a:ext cx="83820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900"/>
              </a:spcAft>
              <a:buNone/>
            </a:pPr>
            <a:r>
              <a:rPr lang="en" sz="140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The semester MVP focuses on core algebraic and peephole optimizations to prove the end-to-end pipeline:</a:t>
            </a:r>
            <a:endParaRPr sz="1400" b="0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381000" y="1428750"/>
            <a:ext cx="8382000" cy="304800"/>
          </a:xfrm>
          <a:prstGeom prst="rect">
            <a:avLst/>
          </a:prstGeom>
          <a:solidFill>
            <a:srgbClr val="EDF2F7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533400" y="1495425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2B6CB0"/>
                </a:solidFill>
                <a:latin typeface="Inter"/>
                <a:ea typeface="Inter"/>
                <a:cs typeface="Inter"/>
                <a:sym typeface="Inter"/>
              </a:rPr>
              <a:t>OPTIMIZATION PHASE</a:t>
            </a:r>
            <a:endParaRPr sz="1000" b="1">
              <a:solidFill>
                <a:srgbClr val="2B6CB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9" name="Google Shape;249;p22"/>
          <p:cNvSpPr txBox="1"/>
          <p:nvPr/>
        </p:nvSpPr>
        <p:spPr>
          <a:xfrm>
            <a:off x="2762250" y="1495425"/>
            <a:ext cx="1905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2B6CB0"/>
                </a:solidFill>
                <a:latin typeface="Inter"/>
                <a:ea typeface="Inter"/>
                <a:cs typeface="Inter"/>
                <a:sym typeface="Inter"/>
              </a:rPr>
              <a:t>TRANSFORMATION</a:t>
            </a:r>
            <a:endParaRPr sz="1000" b="1">
              <a:solidFill>
                <a:srgbClr val="2B6CB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0" name="Google Shape;250;p22"/>
          <p:cNvSpPr txBox="1"/>
          <p:nvPr/>
        </p:nvSpPr>
        <p:spPr>
          <a:xfrm>
            <a:off x="4857750" y="1495425"/>
            <a:ext cx="37149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2B6CB0"/>
                </a:solidFill>
                <a:latin typeface="Inter"/>
                <a:ea typeface="Inter"/>
                <a:cs typeface="Inter"/>
                <a:sym typeface="Inter"/>
              </a:rPr>
              <a:t>PIPELINE OBJECTIVE / PURPOSE</a:t>
            </a:r>
            <a:endParaRPr sz="1000" b="1">
              <a:solidFill>
                <a:srgbClr val="2B6CB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51" name="Google Shape;251;p22"/>
          <p:cNvGrpSpPr/>
          <p:nvPr/>
        </p:nvGrpSpPr>
        <p:grpSpPr>
          <a:xfrm>
            <a:off x="381000" y="1790700"/>
            <a:ext cx="8382000" cy="571500"/>
            <a:chOff x="0" y="0"/>
            <a:chExt cx="8382000" cy="571500"/>
          </a:xfrm>
        </p:grpSpPr>
        <p:sp>
          <p:nvSpPr>
            <p:cNvPr id="252" name="Google Shape;252;p22"/>
            <p:cNvSpPr/>
            <p:nvPr/>
          </p:nvSpPr>
          <p:spPr>
            <a:xfrm>
              <a:off x="0" y="0"/>
              <a:ext cx="8382000" cy="5715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2"/>
            <p:cNvSpPr/>
            <p:nvPr/>
          </p:nvSpPr>
          <p:spPr>
            <a:xfrm>
              <a:off x="0" y="0"/>
              <a:ext cx="38100" cy="571500"/>
            </a:xfrm>
            <a:prstGeom prst="rect">
              <a:avLst/>
            </a:prstGeom>
            <a:solidFill>
              <a:srgbClr val="2B6CB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2"/>
            <p:cNvSpPr txBox="1"/>
            <p:nvPr/>
          </p:nvSpPr>
          <p:spPr>
            <a:xfrm>
              <a:off x="152400" y="171450"/>
              <a:ext cx="2381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Constant Folding</a:t>
              </a:r>
              <a:endParaRPr sz="1300" b="1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5" name="Google Shape;255;p22"/>
            <p:cNvSpPr/>
            <p:nvPr/>
          </p:nvSpPr>
          <p:spPr>
            <a:xfrm>
              <a:off x="2381250" y="133350"/>
              <a:ext cx="1809600" cy="304800"/>
            </a:xfrm>
            <a:prstGeom prst="roundRect">
              <a:avLst>
                <a:gd name="adj" fmla="val 12500"/>
              </a:avLst>
            </a:prstGeom>
            <a:solidFill>
              <a:srgbClr val="EDF2F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2"/>
            <p:cNvSpPr txBox="1"/>
            <p:nvPr/>
          </p:nvSpPr>
          <p:spPr>
            <a:xfrm>
              <a:off x="2476500" y="190500"/>
              <a:ext cx="16191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0">
                  <a:solidFill>
                    <a:srgbClr val="2B6CB0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3 + 4 → 7</a:t>
              </a:r>
              <a:endParaRPr sz="1200" b="0">
                <a:solidFill>
                  <a:srgbClr val="2B6CB0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</p:txBody>
        </p:sp>
        <p:sp>
          <p:nvSpPr>
            <p:cNvPr id="257" name="Google Shape;257;p22"/>
            <p:cNvSpPr txBox="1"/>
            <p:nvPr/>
          </p:nvSpPr>
          <p:spPr>
            <a:xfrm>
              <a:off x="4476750" y="171450"/>
              <a:ext cx="3714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Tests semantic evaluation</a:t>
              </a:r>
              <a:endParaRPr sz="110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58" name="Google Shape;258;p22"/>
          <p:cNvGrpSpPr/>
          <p:nvPr/>
        </p:nvGrpSpPr>
        <p:grpSpPr>
          <a:xfrm>
            <a:off x="381000" y="2419350"/>
            <a:ext cx="8382000" cy="571500"/>
            <a:chOff x="0" y="0"/>
            <a:chExt cx="8382000" cy="571500"/>
          </a:xfrm>
        </p:grpSpPr>
        <p:sp>
          <p:nvSpPr>
            <p:cNvPr id="259" name="Google Shape;259;p22"/>
            <p:cNvSpPr/>
            <p:nvPr/>
          </p:nvSpPr>
          <p:spPr>
            <a:xfrm>
              <a:off x="0" y="0"/>
              <a:ext cx="8382000" cy="5715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2"/>
            <p:cNvSpPr/>
            <p:nvPr/>
          </p:nvSpPr>
          <p:spPr>
            <a:xfrm>
              <a:off x="0" y="0"/>
              <a:ext cx="38100" cy="571500"/>
            </a:xfrm>
            <a:prstGeom prst="rect">
              <a:avLst/>
            </a:prstGeom>
            <a:solidFill>
              <a:srgbClr val="2B6CB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2"/>
            <p:cNvSpPr txBox="1"/>
            <p:nvPr/>
          </p:nvSpPr>
          <p:spPr>
            <a:xfrm>
              <a:off x="152400" y="171450"/>
              <a:ext cx="2381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Algebraic Simplification</a:t>
              </a:r>
              <a:endParaRPr sz="1300" b="1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2" name="Google Shape;262;p22"/>
            <p:cNvSpPr/>
            <p:nvPr/>
          </p:nvSpPr>
          <p:spPr>
            <a:xfrm>
              <a:off x="2381250" y="133350"/>
              <a:ext cx="1809600" cy="304800"/>
            </a:xfrm>
            <a:prstGeom prst="roundRect">
              <a:avLst>
                <a:gd name="adj" fmla="val 12500"/>
              </a:avLst>
            </a:prstGeom>
            <a:solidFill>
              <a:srgbClr val="EDF2F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2"/>
            <p:cNvSpPr txBox="1"/>
            <p:nvPr/>
          </p:nvSpPr>
          <p:spPr>
            <a:xfrm>
              <a:off x="2476500" y="190500"/>
              <a:ext cx="16191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0">
                  <a:solidFill>
                    <a:srgbClr val="2B6CB0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x + 0 → x</a:t>
              </a:r>
              <a:endParaRPr sz="1200" b="0">
                <a:solidFill>
                  <a:srgbClr val="2B6CB0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</p:txBody>
        </p:sp>
        <p:sp>
          <p:nvSpPr>
            <p:cNvPr id="264" name="Google Shape;264;p22"/>
            <p:cNvSpPr txBox="1"/>
            <p:nvPr/>
          </p:nvSpPr>
          <p:spPr>
            <a:xfrm>
              <a:off x="4476750" y="171450"/>
              <a:ext cx="3714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Simple pattern rewrite</a:t>
              </a:r>
              <a:endParaRPr sz="110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65" name="Google Shape;265;p22"/>
          <p:cNvGrpSpPr/>
          <p:nvPr/>
        </p:nvGrpSpPr>
        <p:grpSpPr>
          <a:xfrm>
            <a:off x="381000" y="3048000"/>
            <a:ext cx="8382000" cy="571500"/>
            <a:chOff x="0" y="0"/>
            <a:chExt cx="8382000" cy="571500"/>
          </a:xfrm>
        </p:grpSpPr>
        <p:sp>
          <p:nvSpPr>
            <p:cNvPr id="266" name="Google Shape;266;p22"/>
            <p:cNvSpPr/>
            <p:nvPr/>
          </p:nvSpPr>
          <p:spPr>
            <a:xfrm>
              <a:off x="0" y="0"/>
              <a:ext cx="8382000" cy="5715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2"/>
            <p:cNvSpPr/>
            <p:nvPr/>
          </p:nvSpPr>
          <p:spPr>
            <a:xfrm>
              <a:off x="0" y="0"/>
              <a:ext cx="38100" cy="571500"/>
            </a:xfrm>
            <a:prstGeom prst="rect">
              <a:avLst/>
            </a:prstGeom>
            <a:solidFill>
              <a:srgbClr val="2B6CB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2"/>
            <p:cNvSpPr txBox="1"/>
            <p:nvPr/>
          </p:nvSpPr>
          <p:spPr>
            <a:xfrm>
              <a:off x="152400" y="171450"/>
              <a:ext cx="2381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Multiplicative Identity</a:t>
              </a:r>
              <a:endParaRPr sz="1300" b="1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9" name="Google Shape;269;p22"/>
            <p:cNvSpPr/>
            <p:nvPr/>
          </p:nvSpPr>
          <p:spPr>
            <a:xfrm>
              <a:off x="2381250" y="133350"/>
              <a:ext cx="1809600" cy="304800"/>
            </a:xfrm>
            <a:prstGeom prst="roundRect">
              <a:avLst>
                <a:gd name="adj" fmla="val 12500"/>
              </a:avLst>
            </a:prstGeom>
            <a:solidFill>
              <a:srgbClr val="EDF2F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2"/>
            <p:cNvSpPr txBox="1"/>
            <p:nvPr/>
          </p:nvSpPr>
          <p:spPr>
            <a:xfrm>
              <a:off x="2476500" y="190500"/>
              <a:ext cx="16191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0">
                  <a:solidFill>
                    <a:srgbClr val="2B6CB0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x * 1 → x</a:t>
              </a:r>
              <a:endParaRPr sz="1200" b="0">
                <a:solidFill>
                  <a:srgbClr val="2B6CB0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</p:txBody>
        </p:sp>
        <p:sp>
          <p:nvSpPr>
            <p:cNvPr id="271" name="Google Shape;271;p22"/>
            <p:cNvSpPr txBox="1"/>
            <p:nvPr/>
          </p:nvSpPr>
          <p:spPr>
            <a:xfrm>
              <a:off x="4476750" y="171450"/>
              <a:ext cx="3714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Demonstrates operand constraints</a:t>
              </a:r>
              <a:endParaRPr sz="110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72" name="Google Shape;272;p22"/>
          <p:cNvGrpSpPr/>
          <p:nvPr/>
        </p:nvGrpSpPr>
        <p:grpSpPr>
          <a:xfrm>
            <a:off x="381000" y="3676650"/>
            <a:ext cx="8382000" cy="571500"/>
            <a:chOff x="0" y="0"/>
            <a:chExt cx="8382000" cy="571500"/>
          </a:xfrm>
        </p:grpSpPr>
        <p:sp>
          <p:nvSpPr>
            <p:cNvPr id="273" name="Google Shape;273;p22"/>
            <p:cNvSpPr/>
            <p:nvPr/>
          </p:nvSpPr>
          <p:spPr>
            <a:xfrm>
              <a:off x="0" y="0"/>
              <a:ext cx="8382000" cy="5715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2"/>
            <p:cNvSpPr/>
            <p:nvPr/>
          </p:nvSpPr>
          <p:spPr>
            <a:xfrm>
              <a:off x="0" y="0"/>
              <a:ext cx="38100" cy="571500"/>
            </a:xfrm>
            <a:prstGeom prst="rect">
              <a:avLst/>
            </a:prstGeom>
            <a:solidFill>
              <a:srgbClr val="2B6CB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2"/>
            <p:cNvSpPr txBox="1"/>
            <p:nvPr/>
          </p:nvSpPr>
          <p:spPr>
            <a:xfrm>
              <a:off x="152400" y="171450"/>
              <a:ext cx="2381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Multiplication by Zero</a:t>
              </a:r>
              <a:endParaRPr sz="1300" b="1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76" name="Google Shape;276;p22"/>
            <p:cNvSpPr/>
            <p:nvPr/>
          </p:nvSpPr>
          <p:spPr>
            <a:xfrm>
              <a:off x="2381250" y="133350"/>
              <a:ext cx="1809600" cy="304800"/>
            </a:xfrm>
            <a:prstGeom prst="roundRect">
              <a:avLst>
                <a:gd name="adj" fmla="val 12500"/>
              </a:avLst>
            </a:prstGeom>
            <a:solidFill>
              <a:srgbClr val="EDF2F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2"/>
            <p:cNvSpPr txBox="1"/>
            <p:nvPr/>
          </p:nvSpPr>
          <p:spPr>
            <a:xfrm>
              <a:off x="2476500" y="190500"/>
              <a:ext cx="16191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0">
                  <a:solidFill>
                    <a:srgbClr val="2B6CB0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x * 0 → 0</a:t>
              </a:r>
              <a:endParaRPr sz="1200" b="0">
                <a:solidFill>
                  <a:srgbClr val="2B6CB0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</p:txBody>
        </p:sp>
        <p:sp>
          <p:nvSpPr>
            <p:cNvPr id="278" name="Google Shape;278;p22"/>
            <p:cNvSpPr txBox="1"/>
            <p:nvPr/>
          </p:nvSpPr>
          <p:spPr>
            <a:xfrm>
              <a:off x="4476750" y="171450"/>
              <a:ext cx="3714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Requires side-effect checking</a:t>
              </a:r>
              <a:endParaRPr sz="110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79" name="Google Shape;279;p22"/>
          <p:cNvGrpSpPr/>
          <p:nvPr/>
        </p:nvGrpSpPr>
        <p:grpSpPr>
          <a:xfrm>
            <a:off x="381000" y="4305300"/>
            <a:ext cx="8382000" cy="571500"/>
            <a:chOff x="0" y="0"/>
            <a:chExt cx="8382000" cy="571500"/>
          </a:xfrm>
        </p:grpSpPr>
        <p:sp>
          <p:nvSpPr>
            <p:cNvPr id="280" name="Google Shape;280;p22"/>
            <p:cNvSpPr/>
            <p:nvPr/>
          </p:nvSpPr>
          <p:spPr>
            <a:xfrm>
              <a:off x="0" y="0"/>
              <a:ext cx="8382000" cy="5715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2"/>
            <p:cNvSpPr/>
            <p:nvPr/>
          </p:nvSpPr>
          <p:spPr>
            <a:xfrm>
              <a:off x="0" y="0"/>
              <a:ext cx="38100" cy="571500"/>
            </a:xfrm>
            <a:prstGeom prst="rect">
              <a:avLst/>
            </a:prstGeom>
            <a:solidFill>
              <a:srgbClr val="2B6CB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2"/>
            <p:cNvSpPr txBox="1"/>
            <p:nvPr/>
          </p:nvSpPr>
          <p:spPr>
            <a:xfrm>
              <a:off x="152400" y="171450"/>
              <a:ext cx="2381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Strength Reduction</a:t>
              </a:r>
              <a:endParaRPr sz="1300" b="1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83" name="Google Shape;283;p22"/>
            <p:cNvSpPr/>
            <p:nvPr/>
          </p:nvSpPr>
          <p:spPr>
            <a:xfrm>
              <a:off x="2381250" y="133350"/>
              <a:ext cx="1809600" cy="304800"/>
            </a:xfrm>
            <a:prstGeom prst="roundRect">
              <a:avLst>
                <a:gd name="adj" fmla="val 12500"/>
              </a:avLst>
            </a:prstGeom>
            <a:solidFill>
              <a:srgbClr val="EDF2F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2"/>
            <p:cNvSpPr txBox="1"/>
            <p:nvPr/>
          </p:nvSpPr>
          <p:spPr>
            <a:xfrm>
              <a:off x="2476500" y="190500"/>
              <a:ext cx="16191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2B6CB0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x * 2^n → x &lt;&lt; n</a:t>
              </a:r>
              <a:endParaRPr sz="1000" b="0">
                <a:solidFill>
                  <a:srgbClr val="2B6CB0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</p:txBody>
        </p:sp>
        <p:sp>
          <p:nvSpPr>
            <p:cNvPr id="285" name="Google Shape;285;p22"/>
            <p:cNvSpPr txBox="1"/>
            <p:nvPr/>
          </p:nvSpPr>
          <p:spPr>
            <a:xfrm>
              <a:off x="4476750" y="171450"/>
              <a:ext cx="3714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18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Selected multiplication to shift operations (target-aware)</a:t>
              </a:r>
              <a:endParaRPr sz="1018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1" name="Google Shape;291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2" name="Google Shape;292;p23"/>
          <p:cNvGrpSpPr/>
          <p:nvPr/>
        </p:nvGrpSpPr>
        <p:grpSpPr>
          <a:xfrm>
            <a:off x="381000" y="285750"/>
            <a:ext cx="8896500" cy="523875"/>
            <a:chOff x="381000" y="285750"/>
            <a:chExt cx="8896500" cy="523875"/>
          </a:xfrm>
        </p:grpSpPr>
        <p:grpSp>
          <p:nvGrpSpPr>
            <p:cNvPr id="293" name="Google Shape;293;p23"/>
            <p:cNvGrpSpPr/>
            <p:nvPr/>
          </p:nvGrpSpPr>
          <p:grpSpPr>
            <a:xfrm>
              <a:off x="7620000" y="285750"/>
              <a:ext cx="1657500" cy="285900"/>
              <a:chOff x="0" y="0"/>
              <a:chExt cx="1657500" cy="285900"/>
            </a:xfrm>
          </p:grpSpPr>
          <p:sp>
            <p:nvSpPr>
              <p:cNvPr id="294" name="Google Shape;294;p23"/>
              <p:cNvSpPr/>
              <p:nvPr/>
            </p:nvSpPr>
            <p:spPr>
              <a:xfrm>
                <a:off x="0" y="38100"/>
                <a:ext cx="152400" cy="152400"/>
              </a:xfrm>
              <a:prstGeom prst="rect">
                <a:avLst/>
              </a:prstGeom>
              <a:solidFill>
                <a:srgbClr val="2B6CB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23"/>
              <p:cNvSpPr txBox="1"/>
              <p:nvPr/>
            </p:nvSpPr>
            <p:spPr>
              <a:xfrm>
                <a:off x="228600" y="0"/>
                <a:ext cx="1428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solidFill>
                      <a:srgbClr val="1A202C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NLOpt</a:t>
                </a:r>
                <a:endParaRPr sz="1800" b="1">
                  <a:solidFill>
                    <a:srgbClr val="1A202C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</p:txBody>
          </p:sp>
        </p:grpSp>
        <p:sp>
          <p:nvSpPr>
            <p:cNvPr id="296" name="Google Shape;296;p23"/>
            <p:cNvSpPr txBox="1"/>
            <p:nvPr/>
          </p:nvSpPr>
          <p:spPr>
            <a:xfrm>
              <a:off x="381000" y="285750"/>
              <a:ext cx="7048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lang="en" sz="1850" b="0">
                  <a:solidFill>
                    <a:srgbClr val="1A202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Building the NLOpt Prototype with Industry-Standard Tools</a:t>
              </a:r>
              <a:endParaRPr sz="1850" b="0">
                <a:solidFill>
                  <a:srgbClr val="1A202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cxnSp>
          <p:nvCxnSpPr>
            <p:cNvPr id="297" name="Google Shape;297;p23"/>
            <p:cNvCxnSpPr/>
            <p:nvPr/>
          </p:nvCxnSpPr>
          <p:spPr>
            <a:xfrm>
              <a:off x="381000" y="809625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w="1905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98" name="Google Shape;298;p23"/>
          <p:cNvGrpSpPr/>
          <p:nvPr/>
        </p:nvGrpSpPr>
        <p:grpSpPr>
          <a:xfrm>
            <a:off x="381000" y="1047750"/>
            <a:ext cx="4048200" cy="2905200"/>
            <a:chOff x="381000" y="1047750"/>
            <a:chExt cx="4048200" cy="2905200"/>
          </a:xfrm>
        </p:grpSpPr>
        <p:sp>
          <p:nvSpPr>
            <p:cNvPr id="299" name="Google Shape;299;p23"/>
            <p:cNvSpPr/>
            <p:nvPr/>
          </p:nvSpPr>
          <p:spPr>
            <a:xfrm>
              <a:off x="381000" y="1047750"/>
              <a:ext cx="4048200" cy="29052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3"/>
            <p:cNvSpPr/>
            <p:nvPr/>
          </p:nvSpPr>
          <p:spPr>
            <a:xfrm>
              <a:off x="381000" y="1047750"/>
              <a:ext cx="4048200" cy="38100"/>
            </a:xfrm>
            <a:prstGeom prst="rect">
              <a:avLst/>
            </a:prstGeom>
            <a:solidFill>
              <a:srgbClr val="2B6CB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3"/>
            <p:cNvSpPr txBox="1"/>
            <p:nvPr/>
          </p:nvSpPr>
          <p:spPr>
            <a:xfrm>
              <a:off x="571500" y="1190625"/>
              <a:ext cx="3667200" cy="261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80" b="1">
                  <a:solidFill>
                    <a:srgbClr val="2B6CB0"/>
                  </a:solidFill>
                  <a:latin typeface="Inter"/>
                  <a:ea typeface="Inter"/>
                  <a:cs typeface="Inter"/>
                  <a:sym typeface="Inter"/>
                </a:rPr>
                <a:t>Technology Stack</a:t>
              </a:r>
              <a:endParaRPr sz="1480" b="1">
                <a:solidFill>
                  <a:srgbClr val="2B6CB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10833" algn="l" rtl="0">
                <a:spcBef>
                  <a:spcPts val="900"/>
                </a:spcBef>
                <a:spcAft>
                  <a:spcPts val="0"/>
                </a:spcAft>
                <a:buSzPts val="1295"/>
                <a:buChar char="●"/>
              </a:pPr>
              <a:r>
                <a:rPr lang="en" sz="1388" b="1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C++:</a:t>
              </a:r>
              <a:r>
                <a:rPr lang="en" sz="1388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 Core compiler framework implementation.</a:t>
              </a:r>
              <a:endParaRPr sz="1388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10833" algn="l" rtl="0">
                <a:spcBef>
                  <a:spcPts val="750"/>
                </a:spcBef>
                <a:spcAft>
                  <a:spcPts val="0"/>
                </a:spcAft>
                <a:buSzPts val="1295"/>
                <a:buChar char="●"/>
              </a:pPr>
              <a:r>
                <a:rPr lang="en" sz="1388" b="1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Flex:</a:t>
              </a:r>
              <a:r>
                <a:rPr lang="en" sz="1388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 Lexical analyzer to tokenize optimization keywords.</a:t>
              </a:r>
              <a:endParaRPr sz="1388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10833" algn="l" rtl="0">
                <a:spcBef>
                  <a:spcPts val="750"/>
                </a:spcBef>
                <a:spcAft>
                  <a:spcPts val="0"/>
                </a:spcAft>
                <a:buSzPts val="1295"/>
                <a:buChar char="●"/>
              </a:pPr>
              <a:r>
                <a:rPr lang="en" sz="1388" b="1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Bison:</a:t>
              </a:r>
              <a:r>
                <a:rPr lang="en" sz="1388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 Parser generator implementing the NLOpt CFG.</a:t>
              </a:r>
              <a:endParaRPr sz="1388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10833" algn="l" rtl="0">
                <a:spcBef>
                  <a:spcPts val="750"/>
                </a:spcBef>
                <a:spcAft>
                  <a:spcPts val="1200"/>
                </a:spcAft>
                <a:buSzPts val="1295"/>
                <a:buChar char="●"/>
              </a:pPr>
              <a:r>
                <a:rPr lang="en" sz="1388" b="1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LLVM / MLIR:</a:t>
              </a:r>
              <a:r>
                <a:rPr lang="en" sz="1388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 Backend infrastructure generating intermediate representation (IR).</a:t>
              </a:r>
              <a:endParaRPr sz="1388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02" name="Google Shape;302;p23"/>
          <p:cNvGrpSpPr/>
          <p:nvPr/>
        </p:nvGrpSpPr>
        <p:grpSpPr>
          <a:xfrm>
            <a:off x="4714875" y="1047750"/>
            <a:ext cx="4048200" cy="2905200"/>
            <a:chOff x="4714875" y="1047750"/>
            <a:chExt cx="4048200" cy="2905200"/>
          </a:xfrm>
        </p:grpSpPr>
        <p:sp>
          <p:nvSpPr>
            <p:cNvPr id="303" name="Google Shape;303;p23"/>
            <p:cNvSpPr/>
            <p:nvPr/>
          </p:nvSpPr>
          <p:spPr>
            <a:xfrm>
              <a:off x="4714875" y="1047750"/>
              <a:ext cx="4048200" cy="29052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3"/>
            <p:cNvSpPr/>
            <p:nvPr/>
          </p:nvSpPr>
          <p:spPr>
            <a:xfrm>
              <a:off x="4714875" y="1047750"/>
              <a:ext cx="4048200" cy="38100"/>
            </a:xfrm>
            <a:prstGeom prst="rect">
              <a:avLst/>
            </a:prstGeom>
            <a:solidFill>
              <a:srgbClr val="2B6CB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3"/>
            <p:cNvSpPr txBox="1"/>
            <p:nvPr/>
          </p:nvSpPr>
          <p:spPr>
            <a:xfrm>
              <a:off x="4905375" y="1190625"/>
              <a:ext cx="3667200" cy="261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rgbClr val="2B6CB0"/>
                  </a:solidFill>
                  <a:latin typeface="Inter"/>
                  <a:ea typeface="Inter"/>
                  <a:cs typeface="Inter"/>
                  <a:sym typeface="Inter"/>
                </a:rPr>
                <a:t>Expected Result &amp; Workflow</a:t>
              </a:r>
              <a:endParaRPr sz="1600" b="1">
                <a:solidFill>
                  <a:srgbClr val="2B6CB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500" b="0">
                  <a:solidFill>
                    <a:srgbClr val="1A202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Working Prototype Compiler Demo:</a:t>
              </a:r>
              <a:endParaRPr sz="1500" b="0">
                <a:solidFill>
                  <a:srgbClr val="1A202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SzPts val="1400"/>
                <a:buAutoNum type="arabicPeriod"/>
              </a:pPr>
              <a:r>
                <a:rPr lang="en" sz="140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Write a controlled English optimization statement.</a:t>
              </a:r>
              <a:endParaRPr sz="140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17500" algn="l" rtl="0">
                <a:spcBef>
                  <a:spcPts val="750"/>
                </a:spcBef>
                <a:spcAft>
                  <a:spcPts val="0"/>
                </a:spcAft>
                <a:buSzPts val="1400"/>
                <a:buAutoNum type="arabicPeriod"/>
              </a:pPr>
              <a:r>
                <a:rPr lang="en" sz="140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Execute the NLOpt compiler driver.</a:t>
              </a:r>
              <a:endParaRPr sz="140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17500" algn="l" rtl="0">
                <a:spcBef>
                  <a:spcPts val="750"/>
                </a:spcBef>
                <a:spcAft>
                  <a:spcPts val="0"/>
                </a:spcAft>
                <a:buSzPts val="1400"/>
                <a:buAutoNum type="arabicPeriod"/>
              </a:pPr>
              <a:r>
                <a:rPr lang="en" sz="140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Inspect generated LLVM optimization pass code.</a:t>
              </a:r>
              <a:endParaRPr sz="140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17500" algn="l" rtl="0">
                <a:spcBef>
                  <a:spcPts val="750"/>
                </a:spcBef>
                <a:spcAft>
                  <a:spcPts val="1200"/>
                </a:spcAft>
                <a:buSzPts val="1400"/>
                <a:buAutoNum type="arabicPeriod"/>
              </a:pPr>
              <a:r>
                <a:rPr lang="en" sz="140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Apply transformations to a test C/C++ program.</a:t>
              </a:r>
              <a:endParaRPr sz="140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06" name="Google Shape;306;p23"/>
          <p:cNvGrpSpPr/>
          <p:nvPr/>
        </p:nvGrpSpPr>
        <p:grpSpPr>
          <a:xfrm>
            <a:off x="381000" y="4143375"/>
            <a:ext cx="8382000" cy="619200"/>
            <a:chOff x="381000" y="4143375"/>
            <a:chExt cx="8382000" cy="619200"/>
          </a:xfrm>
        </p:grpSpPr>
        <p:sp>
          <p:nvSpPr>
            <p:cNvPr id="307" name="Google Shape;307;p23"/>
            <p:cNvSpPr/>
            <p:nvPr/>
          </p:nvSpPr>
          <p:spPr>
            <a:xfrm>
              <a:off x="381000" y="4143375"/>
              <a:ext cx="8382000" cy="619200"/>
            </a:xfrm>
            <a:prstGeom prst="roundRect">
              <a:avLst>
                <a:gd name="adj" fmla="val 6153"/>
              </a:avLst>
            </a:prstGeom>
            <a:solidFill>
              <a:srgbClr val="EDF2F7"/>
            </a:solidFill>
            <a:ln w="9525" cap="flat" cmpd="sng">
              <a:solidFill>
                <a:srgbClr val="CBD5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3"/>
            <p:cNvSpPr/>
            <p:nvPr/>
          </p:nvSpPr>
          <p:spPr>
            <a:xfrm>
              <a:off x="381000" y="4143375"/>
              <a:ext cx="57300" cy="619200"/>
            </a:xfrm>
            <a:prstGeom prst="roundRect">
              <a:avLst>
                <a:gd name="adj" fmla="val 33333"/>
              </a:avLst>
            </a:prstGeom>
            <a:solidFill>
              <a:srgbClr val="2B6CB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3"/>
            <p:cNvSpPr txBox="1"/>
            <p:nvPr/>
          </p:nvSpPr>
          <p:spPr>
            <a:xfrm>
              <a:off x="571500" y="4238625"/>
              <a:ext cx="8001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2B6CB0"/>
                  </a:solidFill>
                  <a:latin typeface="Inter"/>
                  <a:ea typeface="Inter"/>
                  <a:cs typeface="Inter"/>
                  <a:sym typeface="Inter"/>
                </a:rPr>
                <a:t>Primary Objective</a:t>
              </a:r>
              <a:r>
                <a:rPr lang="en"/>
                <a:t> </a:t>
              </a:r>
              <a:r>
                <a:rPr lang="en" sz="1500" b="0">
                  <a:solidFill>
                    <a:srgbClr val="2B6CB0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Goal:</a:t>
              </a:r>
              <a:r>
                <a:rPr lang="en" sz="1500" b="0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 Achieve </a:t>
              </a:r>
              <a:r>
                <a:rPr lang="en" sz="1500" b="1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100% parsing accuracy</a:t>
              </a:r>
              <a:r>
                <a:rPr lang="en" sz="1500" b="0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 on the defined grammar test suite.</a:t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5" name="Google Shape;315;p24"/>
          <p:cNvGrpSpPr/>
          <p:nvPr/>
        </p:nvGrpSpPr>
        <p:grpSpPr>
          <a:xfrm>
            <a:off x="381000" y="238125"/>
            <a:ext cx="8896500" cy="571500"/>
            <a:chOff x="381000" y="238125"/>
            <a:chExt cx="8896500" cy="571500"/>
          </a:xfrm>
        </p:grpSpPr>
        <p:grpSp>
          <p:nvGrpSpPr>
            <p:cNvPr id="316" name="Google Shape;316;p24"/>
            <p:cNvGrpSpPr/>
            <p:nvPr/>
          </p:nvGrpSpPr>
          <p:grpSpPr>
            <a:xfrm>
              <a:off x="7620000" y="285750"/>
              <a:ext cx="1657500" cy="285900"/>
              <a:chOff x="0" y="0"/>
              <a:chExt cx="1657500" cy="285900"/>
            </a:xfrm>
          </p:grpSpPr>
          <p:sp>
            <p:nvSpPr>
              <p:cNvPr id="317" name="Google Shape;317;p24"/>
              <p:cNvSpPr/>
              <p:nvPr/>
            </p:nvSpPr>
            <p:spPr>
              <a:xfrm>
                <a:off x="0" y="38100"/>
                <a:ext cx="152400" cy="152400"/>
              </a:xfrm>
              <a:prstGeom prst="rect">
                <a:avLst/>
              </a:prstGeom>
              <a:solidFill>
                <a:srgbClr val="2B6CB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24"/>
              <p:cNvSpPr txBox="1"/>
              <p:nvPr/>
            </p:nvSpPr>
            <p:spPr>
              <a:xfrm>
                <a:off x="228600" y="0"/>
                <a:ext cx="1428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solidFill>
                      <a:srgbClr val="1A202C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NLOpt</a:t>
                </a:r>
                <a:endParaRPr sz="1800" b="1">
                  <a:solidFill>
                    <a:srgbClr val="1A202C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</p:txBody>
          </p:sp>
        </p:grpSp>
        <p:sp>
          <p:nvSpPr>
            <p:cNvPr id="319" name="Google Shape;319;p24"/>
            <p:cNvSpPr txBox="1"/>
            <p:nvPr/>
          </p:nvSpPr>
          <p:spPr>
            <a:xfrm>
              <a:off x="381000" y="238125"/>
              <a:ext cx="7048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lang="en" sz="1850" b="0">
                  <a:solidFill>
                    <a:srgbClr val="1A202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Future Work Expands Optimization Scope and Backend Capabilities</a:t>
              </a:r>
              <a:endParaRPr sz="1850" b="0">
                <a:solidFill>
                  <a:srgbClr val="1A202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cxnSp>
          <p:nvCxnSpPr>
            <p:cNvPr id="320" name="Google Shape;320;p24"/>
            <p:cNvCxnSpPr/>
            <p:nvPr/>
          </p:nvCxnSpPr>
          <p:spPr>
            <a:xfrm>
              <a:off x="381000" y="809625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w="1905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321" name="Google Shape;321;p24"/>
          <p:cNvGrpSpPr/>
          <p:nvPr/>
        </p:nvGrpSpPr>
        <p:grpSpPr>
          <a:xfrm>
            <a:off x="381000" y="1095375"/>
            <a:ext cx="8382075" cy="3667200"/>
            <a:chOff x="381000" y="1095375"/>
            <a:chExt cx="8382075" cy="3667200"/>
          </a:xfrm>
        </p:grpSpPr>
        <p:grpSp>
          <p:nvGrpSpPr>
            <p:cNvPr id="322" name="Google Shape;322;p24"/>
            <p:cNvGrpSpPr/>
            <p:nvPr/>
          </p:nvGrpSpPr>
          <p:grpSpPr>
            <a:xfrm>
              <a:off x="381000" y="1095375"/>
              <a:ext cx="1952700" cy="3667200"/>
              <a:chOff x="0" y="0"/>
              <a:chExt cx="1952700" cy="3667200"/>
            </a:xfrm>
          </p:grpSpPr>
          <p:sp>
            <p:nvSpPr>
              <p:cNvPr id="323" name="Google Shape;323;p24"/>
              <p:cNvSpPr/>
              <p:nvPr/>
            </p:nvSpPr>
            <p:spPr>
              <a:xfrm>
                <a:off x="0" y="0"/>
                <a:ext cx="1952700" cy="36672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24"/>
              <p:cNvSpPr/>
              <p:nvPr/>
            </p:nvSpPr>
            <p:spPr>
              <a:xfrm>
                <a:off x="0" y="0"/>
                <a:ext cx="1952700" cy="38100"/>
              </a:xfrm>
              <a:prstGeom prst="rect">
                <a:avLst/>
              </a:prstGeom>
              <a:solidFill>
                <a:srgbClr val="2B6CB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24"/>
              <p:cNvSpPr txBox="1"/>
              <p:nvPr/>
            </p:nvSpPr>
            <p:spPr>
              <a:xfrm>
                <a:off x="152400" y="171450"/>
                <a:ext cx="1647900" cy="333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18" b="0">
                    <a:solidFill>
                      <a:srgbClr val="2B6CB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Optimization</a:t>
                </a:r>
                <a:endParaRPr sz="1018" b="0">
                  <a:solidFill>
                    <a:srgbClr val="2B6CB0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marL="0" lvl="0" indent="0" algn="l" rtl="0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" sz="1480" b="1">
                    <a:solidFill>
                      <a:srgbClr val="1A202C"/>
                    </a:solidFill>
                    <a:latin typeface="Inter"/>
                    <a:ea typeface="Inter"/>
                    <a:cs typeface="Inter"/>
                    <a:sym typeface="Inter"/>
                  </a:rPr>
                  <a:t>Expanded Rules</a:t>
                </a:r>
                <a:endParaRPr sz="1480" b="1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" sz="1203" b="0">
                    <a:solidFill>
                      <a:srgbClr val="1A202C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Advanced Analysis</a:t>
                </a:r>
                <a:endParaRPr sz="1203" b="0">
                  <a:solidFill>
                    <a:srgbClr val="1A202C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1110" b="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Extending rules beyond the initial MVP scope to handle global transformations.</a:t>
                </a:r>
                <a:endParaRPr sz="111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457200" lvl="0" indent="-310833" algn="l" rtl="0">
                  <a:spcBef>
                    <a:spcPts val="900"/>
                  </a:spcBef>
                  <a:spcAft>
                    <a:spcPts val="0"/>
                  </a:spcAft>
                  <a:buSzPts val="1295"/>
                  <a:buChar char="●"/>
                </a:pPr>
                <a:r>
                  <a:rPr lang="en" sz="1018" b="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Loop-invariant code motion</a:t>
                </a:r>
                <a:endParaRPr sz="1018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457200" lvl="0" indent="-310833" algn="l" rtl="0">
                  <a:spcBef>
                    <a:spcPts val="600"/>
                  </a:spcBef>
                  <a:spcAft>
                    <a:spcPts val="0"/>
                  </a:spcAft>
                  <a:buSzPts val="1295"/>
                  <a:buChar char="●"/>
                </a:pPr>
                <a:r>
                  <a:rPr lang="en" sz="1018" b="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Common subexpression elimination</a:t>
                </a:r>
                <a:endParaRPr sz="1018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457200" lvl="0" indent="-310833" algn="l" rtl="0">
                  <a:spcBef>
                    <a:spcPts val="600"/>
                  </a:spcBef>
                  <a:spcAft>
                    <a:spcPts val="900"/>
                  </a:spcAft>
                  <a:buSzPts val="1295"/>
                  <a:buChar char="●"/>
                </a:pPr>
                <a:r>
                  <a:rPr lang="en" sz="1018" b="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Complex data-flow analysis</a:t>
                </a:r>
                <a:endParaRPr sz="1018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26" name="Google Shape;326;p24"/>
            <p:cNvGrpSpPr/>
            <p:nvPr/>
          </p:nvGrpSpPr>
          <p:grpSpPr>
            <a:xfrm>
              <a:off x="2524125" y="1095375"/>
              <a:ext cx="1952700" cy="3667200"/>
              <a:chOff x="0" y="0"/>
              <a:chExt cx="1952700" cy="3667200"/>
            </a:xfrm>
          </p:grpSpPr>
          <p:sp>
            <p:nvSpPr>
              <p:cNvPr id="327" name="Google Shape;327;p24"/>
              <p:cNvSpPr/>
              <p:nvPr/>
            </p:nvSpPr>
            <p:spPr>
              <a:xfrm>
                <a:off x="0" y="0"/>
                <a:ext cx="1952700" cy="36672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24"/>
              <p:cNvSpPr/>
              <p:nvPr/>
            </p:nvSpPr>
            <p:spPr>
              <a:xfrm>
                <a:off x="0" y="0"/>
                <a:ext cx="1952700" cy="38100"/>
              </a:xfrm>
              <a:prstGeom prst="rect">
                <a:avLst/>
              </a:prstGeom>
              <a:solidFill>
                <a:srgbClr val="2B6CB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24"/>
              <p:cNvSpPr txBox="1"/>
              <p:nvPr/>
            </p:nvSpPr>
            <p:spPr>
              <a:xfrm>
                <a:off x="152400" y="171450"/>
                <a:ext cx="1647900" cy="333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18" b="0">
                    <a:solidFill>
                      <a:srgbClr val="2B6CB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Infrastructure</a:t>
                </a:r>
                <a:endParaRPr sz="1018" b="0">
                  <a:solidFill>
                    <a:srgbClr val="2B6CB0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marL="0" lvl="0" indent="0" algn="l" rtl="0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" sz="1480" b="1">
                    <a:solidFill>
                      <a:srgbClr val="1A202C"/>
                    </a:solidFill>
                    <a:latin typeface="Inter"/>
                    <a:ea typeface="Inter"/>
                    <a:cs typeface="Inter"/>
                    <a:sym typeface="Inter"/>
                  </a:rPr>
                  <a:t>Advanced Backends</a:t>
                </a:r>
                <a:endParaRPr sz="1480" b="1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" sz="1203" b="0">
                    <a:solidFill>
                      <a:srgbClr val="1A202C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IR Integration</a:t>
                </a:r>
                <a:endParaRPr sz="1203" b="0">
                  <a:solidFill>
                    <a:srgbClr val="1A202C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1110" b="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Incorporating state-of-the-art intermediate representations and rewrite engines.</a:t>
                </a:r>
                <a:endParaRPr sz="111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457200" lvl="0" indent="-310833" algn="l" rtl="0">
                  <a:spcBef>
                    <a:spcPts val="900"/>
                  </a:spcBef>
                  <a:spcAft>
                    <a:spcPts val="0"/>
                  </a:spcAft>
                  <a:buSzPts val="1295"/>
                  <a:buChar char="●"/>
                </a:pPr>
                <a:r>
                  <a:rPr lang="en" sz="1018" b="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Full MLIR integration</a:t>
                </a:r>
                <a:endParaRPr sz="1018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457200" lvl="0" indent="-310833" algn="l" rtl="0">
                  <a:spcBef>
                    <a:spcPts val="600"/>
                  </a:spcBef>
                  <a:spcAft>
                    <a:spcPts val="0"/>
                  </a:spcAft>
                  <a:buSzPts val="1295"/>
                  <a:buChar char="●"/>
                </a:pPr>
                <a:r>
                  <a:rPr lang="en" sz="1018" b="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Multi-Level IR frameworks</a:t>
                </a:r>
                <a:endParaRPr sz="1018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457200" lvl="0" indent="-310833" algn="l" rtl="0">
                  <a:spcBef>
                    <a:spcPts val="600"/>
                  </a:spcBef>
                  <a:spcAft>
                    <a:spcPts val="900"/>
                  </a:spcAft>
                  <a:buSzPts val="1295"/>
                  <a:buChar char="●"/>
                </a:pPr>
                <a:r>
                  <a:rPr lang="en" sz="1018" b="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E-graph &amp; equality saturation backend</a:t>
                </a:r>
                <a:endParaRPr sz="1018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30" name="Google Shape;330;p24"/>
            <p:cNvGrpSpPr/>
            <p:nvPr/>
          </p:nvGrpSpPr>
          <p:grpSpPr>
            <a:xfrm>
              <a:off x="4667250" y="1095375"/>
              <a:ext cx="1952700" cy="3667200"/>
              <a:chOff x="0" y="0"/>
              <a:chExt cx="1952700" cy="3667200"/>
            </a:xfrm>
          </p:grpSpPr>
          <p:sp>
            <p:nvSpPr>
              <p:cNvPr id="331" name="Google Shape;331;p24"/>
              <p:cNvSpPr/>
              <p:nvPr/>
            </p:nvSpPr>
            <p:spPr>
              <a:xfrm>
                <a:off x="0" y="0"/>
                <a:ext cx="1952700" cy="36672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24"/>
              <p:cNvSpPr/>
              <p:nvPr/>
            </p:nvSpPr>
            <p:spPr>
              <a:xfrm>
                <a:off x="0" y="0"/>
                <a:ext cx="1952700" cy="38100"/>
              </a:xfrm>
              <a:prstGeom prst="rect">
                <a:avLst/>
              </a:prstGeom>
              <a:solidFill>
                <a:srgbClr val="2B6CB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24"/>
              <p:cNvSpPr txBox="1"/>
              <p:nvPr/>
            </p:nvSpPr>
            <p:spPr>
              <a:xfrm>
                <a:off x="152400" y="171450"/>
                <a:ext cx="1647900" cy="333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18" b="0">
                    <a:solidFill>
                      <a:srgbClr val="2B6CB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Correctness</a:t>
                </a:r>
                <a:endParaRPr sz="1018" b="0">
                  <a:solidFill>
                    <a:srgbClr val="2B6CB0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marL="0" lvl="0" indent="0" algn="l" rtl="0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" sz="1480" b="1">
                    <a:solidFill>
                      <a:srgbClr val="1A202C"/>
                    </a:solidFill>
                    <a:latin typeface="Inter"/>
                    <a:ea typeface="Inter"/>
                    <a:cs typeface="Inter"/>
                    <a:sym typeface="Inter"/>
                  </a:rPr>
                  <a:t>Formal Verification</a:t>
                </a:r>
                <a:endParaRPr sz="1480" b="1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" sz="1203" b="0">
                    <a:solidFill>
                      <a:srgbClr val="1A202C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Semantic Safety</a:t>
                </a:r>
                <a:endParaRPr sz="1203" b="0">
                  <a:solidFill>
                    <a:srgbClr val="1A202C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1110" b="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Ensuring mathematical and semantic equivalence across optimizations.</a:t>
                </a:r>
                <a:endParaRPr sz="111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457200" lvl="0" indent="-310833" algn="l" rtl="0">
                  <a:spcBef>
                    <a:spcPts val="900"/>
                  </a:spcBef>
                  <a:spcAft>
                    <a:spcPts val="0"/>
                  </a:spcAft>
                  <a:buSzPts val="1295"/>
                  <a:buChar char="●"/>
                </a:pPr>
                <a:r>
                  <a:rPr lang="en" sz="1018" b="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Alive2-style formal verification</a:t>
                </a:r>
                <a:endParaRPr sz="1018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457200" lvl="0" indent="-310833" algn="l" rtl="0">
                  <a:spcBef>
                    <a:spcPts val="600"/>
                  </a:spcBef>
                  <a:spcAft>
                    <a:spcPts val="0"/>
                  </a:spcAft>
                  <a:buSzPts val="1295"/>
                  <a:buChar char="●"/>
                </a:pPr>
                <a:r>
                  <a:rPr lang="en" sz="1018" b="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Translation validation pipelines</a:t>
                </a:r>
                <a:endParaRPr sz="1018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457200" lvl="0" indent="-310833" algn="l" rtl="0">
                  <a:spcBef>
                    <a:spcPts val="600"/>
                  </a:spcBef>
                  <a:spcAft>
                    <a:spcPts val="900"/>
                  </a:spcAft>
                  <a:buSzPts val="1295"/>
                  <a:buChar char="●"/>
                </a:pPr>
                <a:r>
                  <a:rPr lang="en" sz="1018" b="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Rigorous correctness proofs</a:t>
                </a:r>
                <a:endParaRPr sz="1018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34" name="Google Shape;334;p24"/>
            <p:cNvGrpSpPr/>
            <p:nvPr/>
          </p:nvGrpSpPr>
          <p:grpSpPr>
            <a:xfrm>
              <a:off x="6810375" y="1095375"/>
              <a:ext cx="1952700" cy="3667200"/>
              <a:chOff x="0" y="0"/>
              <a:chExt cx="1952700" cy="3667200"/>
            </a:xfrm>
          </p:grpSpPr>
          <p:sp>
            <p:nvSpPr>
              <p:cNvPr id="335" name="Google Shape;335;p24"/>
              <p:cNvSpPr/>
              <p:nvPr/>
            </p:nvSpPr>
            <p:spPr>
              <a:xfrm>
                <a:off x="0" y="0"/>
                <a:ext cx="1952700" cy="36672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24"/>
              <p:cNvSpPr/>
              <p:nvPr/>
            </p:nvSpPr>
            <p:spPr>
              <a:xfrm>
                <a:off x="0" y="0"/>
                <a:ext cx="1952700" cy="38100"/>
              </a:xfrm>
              <a:prstGeom prst="rect">
                <a:avLst/>
              </a:prstGeom>
              <a:solidFill>
                <a:srgbClr val="2B6CB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24"/>
              <p:cNvSpPr txBox="1"/>
              <p:nvPr/>
            </p:nvSpPr>
            <p:spPr>
              <a:xfrm>
                <a:off x="152400" y="171450"/>
                <a:ext cx="1647900" cy="333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18" b="0">
                    <a:solidFill>
                      <a:srgbClr val="2B6CB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Usability</a:t>
                </a:r>
                <a:endParaRPr sz="1018" b="0">
                  <a:solidFill>
                    <a:srgbClr val="2B6CB0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marL="0" lvl="0" indent="0" algn="l" rtl="0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" sz="1480" b="1">
                    <a:solidFill>
                      <a:srgbClr val="1A202C"/>
                    </a:solidFill>
                    <a:latin typeface="Inter"/>
                    <a:ea typeface="Inter"/>
                    <a:cs typeface="Inter"/>
                    <a:sym typeface="Inter"/>
                  </a:rPr>
                  <a:t>LLM Frontend</a:t>
                </a:r>
                <a:endParaRPr sz="1480" b="1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" sz="1203" b="0">
                    <a:solidFill>
                      <a:srgbClr val="1A202C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Natural Grammar</a:t>
                </a:r>
                <a:endParaRPr sz="1203" b="0">
                  <a:solidFill>
                    <a:srgbClr val="1A202C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1110" b="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Adding an intelligent natural language translation layer to the compiler pipeline.</a:t>
                </a:r>
                <a:endParaRPr sz="111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457200" lvl="0" indent="-310833" algn="l" rtl="0">
                  <a:spcBef>
                    <a:spcPts val="900"/>
                  </a:spcBef>
                  <a:spcAft>
                    <a:spcPts val="0"/>
                  </a:spcAft>
                  <a:buSzPts val="1295"/>
                  <a:buChar char="●"/>
                </a:pPr>
                <a:r>
                  <a:rPr lang="en" sz="1018" b="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Optional LLM translation frontend</a:t>
                </a:r>
                <a:endParaRPr sz="1018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457200" lvl="0" indent="-310833" algn="l" rtl="0">
                  <a:spcBef>
                    <a:spcPts val="600"/>
                  </a:spcBef>
                  <a:spcAft>
                    <a:spcPts val="0"/>
                  </a:spcAft>
                  <a:buSzPts val="1295"/>
                  <a:buChar char="●"/>
                </a:pPr>
                <a:r>
                  <a:rPr lang="en" sz="1018" b="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Converts unrestricted English</a:t>
                </a:r>
                <a:endParaRPr sz="1018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457200" lvl="0" indent="-310833" algn="l" rtl="0">
                  <a:spcBef>
                    <a:spcPts val="600"/>
                  </a:spcBef>
                  <a:spcAft>
                    <a:spcPts val="900"/>
                  </a:spcAft>
                  <a:buSzPts val="1295"/>
                  <a:buChar char="●"/>
                </a:pPr>
                <a:r>
                  <a:rPr lang="en" sz="1018" b="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Strict NLOpt controlled grammar mapping</a:t>
                </a:r>
                <a:endParaRPr sz="1018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1094</Words>
  <Application>Microsoft Macintosh PowerPoint</Application>
  <PresentationFormat>On-screen Show (16:9)</PresentationFormat>
  <Paragraphs>199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Inter SemiBold</vt:lpstr>
      <vt:lpstr>Inter Medium</vt:lpstr>
      <vt:lpstr>Inter</vt:lpstr>
      <vt:lpstr>Fira Code SemiBold</vt:lpstr>
      <vt:lpstr>Inter ExtraBold</vt:lpstr>
      <vt:lpstr>Fira Code Medium</vt:lpstr>
      <vt:lpstr>Fira Code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Chavan Piyush Ajit</cp:lastModifiedBy>
  <cp:revision>2</cp:revision>
  <dcterms:modified xsi:type="dcterms:W3CDTF">2026-10-06T09:43:13Z</dcterms:modified>
</cp:coreProperties>
</file>